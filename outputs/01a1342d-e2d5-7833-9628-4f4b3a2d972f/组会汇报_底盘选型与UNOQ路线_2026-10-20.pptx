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f5484801d348d2" /><Relationship Type="http://schemas.openxmlformats.org/officeDocument/2006/relationships/extended-properties" Target="/docProps/app.xml" Id="Re28387ae64bf4e9c" /><Relationship Type="http://schemas.openxmlformats.org/officeDocument/2006/relationships/officeDocument" Target="/ppt/presentation.xml" Id="R677520d12c04429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959e68de8824103"/>
  </p:sldMasterIdLst>
  <p:notesMasterIdLst>
    <p:notesMasterId xmlns:r="http://schemas.openxmlformats.org/officeDocument/2006/relationships" r:id="R72928c2b012e4d15"/>
  </p:notesMasterIdLst>
  <p:sldIdLst>
    <p:sldId xmlns:r="http://schemas.openxmlformats.org/officeDocument/2006/relationships" id="256" r:id="Rc41dde6ea66b4a1c"/>
    <p:sldId xmlns:r="http://schemas.openxmlformats.org/officeDocument/2006/relationships" id="257" r:id="Rd1cbe0932e2544d8"/>
    <p:sldId xmlns:r="http://schemas.openxmlformats.org/officeDocument/2006/relationships" id="258" r:id="R2c905c72385f4372"/>
    <p:sldId xmlns:r="http://schemas.openxmlformats.org/officeDocument/2006/relationships" id="259" r:id="R1085d12284ce4fe7"/>
    <p:sldId xmlns:r="http://schemas.openxmlformats.org/officeDocument/2006/relationships" id="260" r:id="R013ea267a5e74023"/>
    <p:sldId xmlns:r="http://schemas.openxmlformats.org/officeDocument/2006/relationships" id="261" r:id="Re036314ae6794d77"/>
    <p:sldId xmlns:r="http://schemas.openxmlformats.org/officeDocument/2006/relationships" id="262" r:id="R628821fb080a4984"/>
    <p:sldId xmlns:r="http://schemas.openxmlformats.org/officeDocument/2006/relationships" id="263" r:id="Re9af837a6da248b5"/>
    <p:sldId xmlns:r="http://schemas.openxmlformats.org/officeDocument/2006/relationships" id="264" r:id="R2715bcf668f2466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9e7ee118fa409f" /><Relationship Type="http://schemas.openxmlformats.org/officeDocument/2006/relationships/slideMaster" Target="/ppt/slideMasters/slideMaster1.xml" Id="Rb959e68de8824103" /><Relationship Type="http://schemas.openxmlformats.org/officeDocument/2006/relationships/notesMaster" Target="/ppt/notesMasters/notesMaster1.xml" Id="R72928c2b012e4d15" /><Relationship Type="http://schemas.openxmlformats.org/officeDocument/2006/relationships/presProps" Target="/ppt/presProps.xml" Id="R5f37adbe13ff471c" /><Relationship Type="http://schemas.openxmlformats.org/officeDocument/2006/relationships/tableStyles" Target="/ppt/tableStyles.xml" Id="R9e35655c92dd44c9" /><Relationship Type="http://schemas.openxmlformats.org/officeDocument/2006/relationships/slide" Target="/ppt/slides/slide1.xml" Id="Rc41dde6ea66b4a1c" /><Relationship Type="http://schemas.openxmlformats.org/officeDocument/2006/relationships/slide" Target="/ppt/slides/slide2.xml" Id="Rd1cbe0932e2544d8" /><Relationship Type="http://schemas.openxmlformats.org/officeDocument/2006/relationships/slide" Target="/ppt/slides/slide3.xml" Id="R2c905c72385f4372" /><Relationship Type="http://schemas.openxmlformats.org/officeDocument/2006/relationships/slide" Target="/ppt/slides/slide4.xml" Id="R1085d12284ce4fe7" /><Relationship Type="http://schemas.openxmlformats.org/officeDocument/2006/relationships/slide" Target="/ppt/slides/slide5.xml" Id="R013ea267a5e74023" /><Relationship Type="http://schemas.openxmlformats.org/officeDocument/2006/relationships/slide" Target="/ppt/slides/slide6.xml" Id="Re036314ae6794d77" /><Relationship Type="http://schemas.openxmlformats.org/officeDocument/2006/relationships/slide" Target="/ppt/slides/slide7.xml" Id="R628821fb080a4984" /><Relationship Type="http://schemas.openxmlformats.org/officeDocument/2006/relationships/slide" Target="/ppt/slides/slide8.xml" Id="Re9af837a6da248b5" /><Relationship Type="http://schemas.openxmlformats.org/officeDocument/2006/relationships/slide" Target="/ppt/slides/slide9.xml" Id="R2715bcf668f246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208cd42310148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5757351a49478a" /><Relationship Type="http://schemas.openxmlformats.org/officeDocument/2006/relationships/notesMaster" Target="/ppt/notesMasters/notesMaster1.xml" Id="R6caccaf962a24f4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d23c4720e4d4f29" /><Relationship Type="http://schemas.openxmlformats.org/officeDocument/2006/relationships/notesMaster" Target="/ppt/notesMasters/notesMaster1.xml" Id="R4587bc915e5d49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4169797205640fc" /><Relationship Type="http://schemas.openxmlformats.org/officeDocument/2006/relationships/notesMaster" Target="/ppt/notesMasters/notesMaster1.xml" Id="Rf7292b275f1a450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c170e321d814ae3" /><Relationship Type="http://schemas.openxmlformats.org/officeDocument/2006/relationships/notesMaster" Target="/ppt/notesMasters/notesMaster1.xml" Id="R44db74b6086f4a6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42066a503cf4b21" /><Relationship Type="http://schemas.openxmlformats.org/officeDocument/2006/relationships/notesMaster" Target="/ppt/notesMasters/notesMaster1.xml" Id="R38f2970a5665491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f48258a0cf246dd" /><Relationship Type="http://schemas.openxmlformats.org/officeDocument/2006/relationships/notesMaster" Target="/ppt/notesMasters/notesMaster1.xml" Id="Rbbbde21a0d76401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f28218c5c514e88" /><Relationship Type="http://schemas.openxmlformats.org/officeDocument/2006/relationships/notesMaster" Target="/ppt/notesMasters/notesMaster1.xml" Id="Rf21760fea2c64b3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60fb7da87e74033" /><Relationship Type="http://schemas.openxmlformats.org/officeDocument/2006/relationships/notesMaster" Target="/ppt/notesMasters/notesMaster1.xml" Id="R0ea4bf0caf5d449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a14d9ff38354174" /><Relationship Type="http://schemas.openxmlformats.org/officeDocument/2006/relationships/notesMaster" Target="/ppt/notesMasters/notesMaster1.xml" Id="R768eb730c0c54e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开场说明：本次重点只讨论两条主线，一是两类轮式底盘及本项目路线，二是 UNO Q 的实际分工、风险和前期工作。目标是为明天组会形成明确决策，而不是展示尚未验证的性能。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这页先给结论。强调“UNO Q 优先”是有条件的技术路线，不是已经证明 4GB 单板可以完成全部并发任务。常规轮式是核心交付，轮腿是可替换升级。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分类依据不用“有没有任何关节”，因为云台、转向关节和被动摇臂都会造成歧义。用主动轮腿/形态转换机构更清楚。Gita 是双轮动态平衡但没有主动轮腿，NASA Rover 有被动摇臂也不是轮腿；这说明平衡、关节和轮腿是三件事。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Waveshare UGV Rover https://www.waveshare.com/product/ugv-rover-ros2-kit.htm</a:t>
            </a:r>
          </a:p>
          <a:p xmlns:a="http://schemas.openxmlformats.org/drawingml/2006/main">
            <a:r>
              <a:t>Hiwonder MentorPi https://www.hiwonder.com/products/mentorpi-m1</a:t>
            </a:r>
          </a:p>
          <a:p xmlns:a="http://schemas.openxmlformats.org/drawingml/2006/main">
            <a:r>
              <a:t>Yahboom ROSMASTER M3 https://www.yahboom.store/products/rosmaster-m3</a:t>
            </a:r>
          </a:p>
          <a:p xmlns:a="http://schemas.openxmlformats.org/drawingml/2006/main">
            <a:r>
              <a:t>Yahboom ROSMASTER X3 https://category.yahboom.net/products/rosmaster-x3</a:t>
            </a:r>
          </a:p>
          <a:p xmlns:a="http://schemas.openxmlformats.org/drawingml/2006/main">
            <a:r>
              <a:t>Gita https://piaggiofastforward.com/shop/grogu</a:t>
            </a:r>
          </a:p>
          <a:p xmlns:a="http://schemas.openxmlformats.org/drawingml/2006/main">
            <a:r>
              <a:t>Skythinker616 https://github.com/Skythinker616/foc-wheel-legged-robot</a:t>
            </a:r>
          </a:p>
          <a:p xmlns:a="http://schemas.openxmlformats.org/drawingml/2006/main">
            <a:r>
              <a:t>MuShibo https://github.com/MuShibo/Micro-Wheeled_leg-Robot</a:t>
            </a:r>
          </a:p>
          <a:p xmlns:a="http://schemas.openxmlformats.org/drawingml/2006/main">
            <a:r>
              <a:t>SWheg https://arxiv.org/pdf/2210.15126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这一页回答“是否现在做轮腿”。当前先做常规轮式，不等于放弃轮腿；而是先把核心交付做完整，再用统一接口证明可重构。若要在本项目中做轮腿，必须在 2027 年 3 月底核心检查通过后启动。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关键表述：UNO Q 4GB 的 Linux 侧承担感知和 ROS 2，STM32 侧承担电机闭环与看门狗。上层算法与实时控制仍然分层。</a:t>
            </a:r>
          </a:p>
          <a:p xmlns:a="http://schemas.openxmlformats.org/drawingml/2006/main">
            <a:r>
              <a:t>官方资料：https://docs.arduino.cc/tutorials/uno-q/user-manual/</a:t>
            </a:r>
          </a:p>
          <a:p xmlns:a="http://schemas.openxmlformats.org/drawingml/2006/main">
            <a:r>
              <a:t>供电说明：https://docs.arduino.cc/tutorials/uno-q/power-specification/</a:t>
            </a:r>
          </a:p>
          <a:p xmlns:a="http://schemas.openxmlformats.org/drawingml/2006/main">
            <a:r>
              <a:t>Bridge 参考：https://github.com/arduino/arduino-router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不能简单把 A53 和 A76 的频率或内存相加来推断项目帧率。单板的核心收益是系统集成，双板的核心收益是计算隔离。迁移时会保留机械、电源、MCU 固件、协议和大部分 ROS 代码，但驱动、设备路径、网络和启动配置需要重新验证。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当前没有板卡，不能声称 UNO Q 已经跑通。App Lab 显示 No boards found 是未连接板卡时的正常状态。板卡到货前最有价值的准备工作是接口、台架、电源和软件骨架；到货后再补最小 RPC、电机闭环和真实传感器测试。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 条最关键。原任务书 CA1 明确写有 UNO Q 与树莓派通信，取消树莓派会改变验收表述，必须请导师确认。第 3 条关系到模块化演示是否要拆成两个独立硬件模块。第 4 条用于把内部计划与正式考核日期对齐。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625629468c491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b7d5e97249415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d4021c17434a0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e49ce83df0410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29b1c44509478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1e99ac89804b6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905C997-4020-4A53-B139-1AC3B42C6B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BF2ACC5-AC5C-4E28-877A-00FC02F9E18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8EF3A5D-B062-46D9-84B7-39FF414E9B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216D564-C934-450B-AAAA-8C3FE5F5DC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4FD5110-D159-4DFC-B553-2BBF10CEB1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4F9D0B4-CACA-4375-869B-FB6DBD3D00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BAF33C2-4982-4EB9-BFAE-E97AD3319D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1CF5048-459A-4D9E-86E3-38B3276E5A0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9313069-4FA9-44E4-BA29-30F2A939B0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CAE7800-C70A-43BF-8CA0-89892A94A4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74cd2827e24742" /><Relationship Type="http://schemas.openxmlformats.org/officeDocument/2006/relationships/slideLayout" Target="/ppt/slideLayouts/slideLayout1.xml" Id="Rcb2c5229fe0e4b27" /><Relationship Type="http://schemas.openxmlformats.org/officeDocument/2006/relationships/slideLayout" Target="/ppt/slideLayouts/slideLayout2.xml" Id="Rbcdd65320b1142f0" /><Relationship Type="http://schemas.openxmlformats.org/officeDocument/2006/relationships/slideLayout" Target="/ppt/slideLayouts/slideLayout3.xml" Id="Rc6bc98d132454550" /><Relationship Type="http://schemas.openxmlformats.org/officeDocument/2006/relationships/slideLayout" Target="/ppt/slideLayouts/slideLayout4.xml" Id="R30ab23231c5645d7" /><Relationship Type="http://schemas.openxmlformats.org/officeDocument/2006/relationships/slideLayout" Target="/ppt/slideLayouts/slideLayout5.xml" Id="R940d8fcdea6049a5" /><Relationship Type="http://schemas.openxmlformats.org/officeDocument/2006/relationships/slideLayout" Target="/ppt/slideLayouts/slideLayout6.xml" Id="Rcf15ef30ef1a46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2c5229fe0e4b27"/>
    <p:sldLayoutId xmlns:r="http://schemas.openxmlformats.org/officeDocument/2006/relationships" id="2147483650" r:id="Rbcdd65320b1142f0"/>
    <p:sldLayoutId xmlns:r="http://schemas.openxmlformats.org/officeDocument/2006/relationships" id="2147483651" r:id="Rc6bc98d132454550"/>
    <p:sldLayoutId xmlns:r="http://schemas.openxmlformats.org/officeDocument/2006/relationships" id="2147483652" r:id="R30ab23231c5645d7"/>
    <p:sldLayoutId xmlns:r="http://schemas.openxmlformats.org/officeDocument/2006/relationships" id="2147483653" r:id="R940d8fcdea6049a5"/>
    <p:sldLayoutId xmlns:r="http://schemas.openxmlformats.org/officeDocument/2006/relationships" id="2147483654" r:id="Rcf15ef30ef1a46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e549e4ac634a48" /><Relationship Type="http://schemas.openxmlformats.org/officeDocument/2006/relationships/notesSlide" Target="/ppt/notesSlides/notesSlide1.xml" Id="R72a8e936771a4f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f2b098a04649e5" /><Relationship Type="http://schemas.openxmlformats.org/officeDocument/2006/relationships/notesSlide" Target="/ppt/notesSlides/notesSlide2.xml" Id="R1f67f9488fbb47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192b8b92324166" /><Relationship Type="http://schemas.openxmlformats.org/officeDocument/2006/relationships/notesSlide" Target="/ppt/notesSlides/notesSlide3.xml" Id="R21d1a82594254be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7a76b0fcec4c37" /><Relationship Type="http://schemas.openxmlformats.org/officeDocument/2006/relationships/notesSlide" Target="/ppt/notesSlides/notesSlide4.xml" Id="R0a787c19146a4bf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81e2231cf849b5" /><Relationship Type="http://schemas.openxmlformats.org/officeDocument/2006/relationships/notesSlide" Target="/ppt/notesSlides/notesSlide5.xml" Id="Rcf770dcfdff0448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728f68484b4cc1" /><Relationship Type="http://schemas.openxmlformats.org/officeDocument/2006/relationships/notesSlide" Target="/ppt/notesSlides/notesSlide6.xml" Id="R086180fdfc9a4ac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b2d78382d14aa7" /><Relationship Type="http://schemas.openxmlformats.org/officeDocument/2006/relationships/notesSlide" Target="/ppt/notesSlides/notesSlide7.xml" Id="R27abfb1f416643b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97ab3a8ef547f8" /><Relationship Type="http://schemas.openxmlformats.org/officeDocument/2006/relationships/notesSlide" Target="/ppt/notesSlides/notesSlide8.xml" Id="Redbab74eca3147b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f772edde474b62" /><Relationship Type="http://schemas.openxmlformats.org/officeDocument/2006/relationships/notesSlide" Target="/ppt/notesSlides/notesSlide9.xml" Id="R123b31e022394bb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7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4F4B18D7-64B3-41B6-AAEB-1708B6507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744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8FA6C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8FA6C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8FA6C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8FA6C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8FA6C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8FA6C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8FA6C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8FA6C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8FA6C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8FA6C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8FA6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8FA6C4"/>
                </a:solidFill>
                <a:latin typeface="Microsoft YaHei"/>
                <a:ea typeface="Microsoft YaHei"/>
                <a:cs typeface="Microsoft YaHei"/>
              </a:rPr>
              <a:t>NUSRI SUZHOU  ·  FYP SP18  ·  组会汇报</a:t>
            </a:r>
          </a:p>
        </p:txBody>
      </p:sp>
      <p:sp>
        <p:nvSpPr>
          <p:cNvPr id="2" name="cover-rule">
            <a:extLst xmlns:a="http://schemas.openxmlformats.org/drawingml/2006/main">
              <a:ext uri="{FF2B5EF4-FFF2-40B4-BE49-F238E27FC236}">
                <a16:creationId xmlns:a16="http://schemas.microsoft.com/office/drawing/2014/main" id="{8864E592-1E4D-42B6-96B7-4E76A80C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7BBEDAA-A99F-4B4F-9869-B2D233E4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97155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可重构轮式机器人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底盘选型与 UNO Q 路线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B9823E12-861A-437F-BE77-04074E63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971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B9C9D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B9C9D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B9C9D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B9C9D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B9C9D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B9C9D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B9C9D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B9C9D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B9C9D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B9C9D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B9C9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9C9DE"/>
                </a:solidFill>
                <a:latin typeface="Microsoft YaHei"/>
                <a:ea typeface="Microsoft YaHei"/>
                <a:cs typeface="Microsoft YaHei"/>
              </a:rPr>
              <a:t>常规轮式先行，主动轮腿作为核心完成后的扩展</a:t>
            </a:r>
          </a:p>
        </p:txBody>
      </p:sp>
      <p:sp>
        <p:nvSpPr>
          <p:cNvPr id="5" name="cover-outline">
            <a:extLst xmlns:a="http://schemas.openxmlformats.org/drawingml/2006/main">
              <a:ext uri="{FF2B5EF4-FFF2-40B4-BE49-F238E27FC236}">
                <a16:creationId xmlns:a16="http://schemas.microsoft.com/office/drawing/2014/main" id="{59AEC903-4D1F-44F5-A530-C3EBAEBB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00500"/>
            <a:ext cx="257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8FA6C4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8FA6C4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8FA6C4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8FA6C4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8FA6C4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8FA6C4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8FA6C4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8FA6C4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8FA6C4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8FA6C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50000"/>
              </a:lnSpc>
              <a:buNone/>
              <a:defRPr sz="1125" b="0">
                <a:solidFill>
                  <a:srgbClr val="8FA6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8FA6C4"/>
                </a:solidFill>
                <a:latin typeface="Microsoft YaHei"/>
                <a:ea typeface="Microsoft YaHei"/>
                <a:cs typeface="Microsoft YaHei"/>
              </a:rPr>
              <a:t>01  底盘选型</a:t>
            </a:r>
          </a:p>
          <a:p xmlns:a="http://schemas.openxmlformats.org/drawingml/2006/main">
            <a:pPr algn="r">
              <a:lnSpc>
                <a:spcPct val="150000"/>
              </a:lnSpc>
              <a:buNone/>
              <a:defRPr sz="1125" b="0">
                <a:solidFill>
                  <a:srgbClr val="8FA6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8FA6C4"/>
                </a:solidFill>
                <a:latin typeface="Microsoft YaHei"/>
                <a:ea typeface="Microsoft YaHei"/>
                <a:cs typeface="Microsoft YaHei"/>
              </a:rPr>
              <a:t>02  UNO Q 与前期工作</a:t>
            </a:r>
          </a:p>
        </p:txBody>
      </p:sp>
      <p:sp>
        <p:nvSpPr>
          <p:cNvPr id="6" name="cover-footer-rule">
            <a:extLst xmlns:a="http://schemas.openxmlformats.org/drawingml/2006/main">
              <a:ext uri="{FF2B5EF4-FFF2-40B4-BE49-F238E27FC236}">
                <a16:creationId xmlns:a16="http://schemas.microsoft.com/office/drawing/2014/main" id="{8C33413C-79B6-4A08-B36D-BE810DAB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ver-teacher">
            <a:extLst xmlns:a="http://schemas.openxmlformats.org/drawingml/2006/main">
              <a:ext uri="{FF2B5EF4-FFF2-40B4-BE49-F238E27FC236}">
                <a16:creationId xmlns:a16="http://schemas.microsoft.com/office/drawing/2014/main" id="{CC8196BB-DE44-4CF9-8F8C-CC5A84A25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57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8FA6C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8FA6C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8FA6C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8FA6C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8FA6C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8FA6C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8FA6C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8FA6C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8FA6C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8FA6C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8FA6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FA6C4"/>
                </a:solidFill>
                <a:latin typeface="Microsoft YaHei"/>
                <a:ea typeface="Microsoft YaHei"/>
                <a:cs typeface="Microsoft YaHei"/>
              </a:rPr>
              <a:t>指导教师  张建文</a:t>
            </a:r>
          </a:p>
        </p:txBody>
      </p:sp>
      <p:sp>
        <p:nvSpPr>
          <p:cNvPr id="8" name="cover-date">
            <a:extLst xmlns:a="http://schemas.openxmlformats.org/drawingml/2006/main">
              <a:ext uri="{FF2B5EF4-FFF2-40B4-BE49-F238E27FC236}">
                <a16:creationId xmlns:a16="http://schemas.microsoft.com/office/drawing/2014/main" id="{DAAA1BD1-6F7F-4E00-8F31-551EEDB15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65785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8FA6C4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8FA6C4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8FA6C4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8FA6C4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8FA6C4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8FA6C4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8FA6C4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8FA6C4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8FA6C4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8FA6C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8FA6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FA6C4"/>
                </a:solidFill>
                <a:latin typeface="Microsoft YaHei"/>
                <a:ea typeface="Microsoft YaHei"/>
                <a:cs typeface="Microsoft YaHei"/>
              </a:rPr>
              <a:t>2026 年 10 月 20 日</a:t>
            </a:r>
          </a:p>
        </p:txBody>
      </p:sp>
    </p:spTree>
    <p:extLst>
      <p:ext uri="{BB962C8B-B14F-4D97-AF65-F5344CB8AC3E}">
        <p14:creationId xmlns:p14="http://schemas.microsoft.com/office/powerpoint/2010/main" val="11499988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733B7F0C-8B93-4928-8D22-4AFB93D7C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47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D3FA511-9997-46D1-8B1C-42339429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828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本次汇报的结论</a:t>
            </a:r>
          </a:p>
        </p:txBody>
      </p:sp>
      <p:sp>
        <p:nvSpPr>
          <p:cNvPr id="3" name="section-tag">
            <a:extLst xmlns:a="http://schemas.openxmlformats.org/drawingml/2006/main">
              <a:ext uri="{FF2B5EF4-FFF2-40B4-BE49-F238E27FC236}">
                <a16:creationId xmlns:a16="http://schemas.microsoft.com/office/drawing/2014/main" id="{99E07DB8-119A-4DBB-81A8-93AB63CD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1950"/>
            <a:ext cx="156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rPr>
              <a:t>结论先行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D1301F1-8C00-415E-A675-D55D3F52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"/>
            <a:ext cx="10744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rPr>
              <a:t>先锁定可交付路线，再由实物测试决定是否增加计算板。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010217F-A04C-4240-96C7-391AEAD23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" name="decision-body">
            <a:extLst xmlns:a="http://schemas.openxmlformats.org/drawingml/2006/main">
              <a:ext uri="{FF2B5EF4-FFF2-40B4-BE49-F238E27FC236}">
                <a16:creationId xmlns:a16="http://schemas.microsoft.com/office/drawing/2014/main" id="{BD369E93-083D-493C-89DF-67E068F26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107442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  <a:prstDash val="solid"/>
          </a:ln>
        </p:spPr>
      </p:sp>
      <p:sp>
        <p:nvSpPr>
          <p:cNvPr id="7" name="decision-body-accent">
            <a:extLst xmlns:a="http://schemas.openxmlformats.org/drawingml/2006/main">
              <a:ext uri="{FF2B5EF4-FFF2-40B4-BE49-F238E27FC236}">
                <a16:creationId xmlns:a16="http://schemas.microsoft.com/office/drawing/2014/main" id="{0E59EC25-528E-4614-9E7B-C7B526ED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4762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cision-chassis-number">
            <a:extLst xmlns:a="http://schemas.openxmlformats.org/drawingml/2006/main">
              <a:ext uri="{FF2B5EF4-FFF2-40B4-BE49-F238E27FC236}">
                <a16:creationId xmlns:a16="http://schemas.microsoft.com/office/drawing/2014/main" id="{D2BA8E1B-B944-4965-AEA0-841C3B41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764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decision-chassis-label">
            <a:extLst xmlns:a="http://schemas.openxmlformats.org/drawingml/2006/main">
              <a:ext uri="{FF2B5EF4-FFF2-40B4-BE49-F238E27FC236}">
                <a16:creationId xmlns:a16="http://schemas.microsoft.com/office/drawing/2014/main" id="{2C79ED33-A4B6-44A3-80EF-569866C7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057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底盘路线</a:t>
            </a:r>
          </a:p>
        </p:txBody>
      </p:sp>
      <p:sp>
        <p:nvSpPr>
          <p:cNvPr id="10" name="decision-chassis-summary">
            <a:extLst xmlns:a="http://schemas.openxmlformats.org/drawingml/2006/main">
              <a:ext uri="{FF2B5EF4-FFF2-40B4-BE49-F238E27FC236}">
                <a16:creationId xmlns:a16="http://schemas.microsoft.com/office/drawing/2014/main" id="{7E34CCFB-04DC-422B-8F85-B2824248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076450"/>
            <a:ext cx="7867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rPr>
              <a:t>常规差速轮式完成核心交付；主动轮腿在核心通过后换装验证。</a:t>
            </a:r>
          </a:p>
        </p:txBody>
      </p:sp>
      <p:sp>
        <p:nvSpPr>
          <p:cNvPr id="11" name="decision-divider">
            <a:extLst xmlns:a="http://schemas.openxmlformats.org/drawingml/2006/main">
              <a:ext uri="{FF2B5EF4-FFF2-40B4-BE49-F238E27FC236}">
                <a16:creationId xmlns:a16="http://schemas.microsoft.com/office/drawing/2014/main" id="{A4C049E4-6DCA-48FC-94DF-6BE04BA7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908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decision-control-number">
            <a:extLst xmlns:a="http://schemas.openxmlformats.org/drawingml/2006/main">
              <a:ext uri="{FF2B5EF4-FFF2-40B4-BE49-F238E27FC236}">
                <a16:creationId xmlns:a16="http://schemas.microsoft.com/office/drawing/2014/main" id="{DAC0B1A4-87C5-4309-A9FA-A9AA7180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766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decision-control-label">
            <a:extLst xmlns:a="http://schemas.openxmlformats.org/drawingml/2006/main">
              <a:ext uri="{FF2B5EF4-FFF2-40B4-BE49-F238E27FC236}">
                <a16:creationId xmlns:a16="http://schemas.microsoft.com/office/drawing/2014/main" id="{79730492-C392-40EA-AF6C-7FCEAD517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2575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主控路线</a:t>
            </a:r>
          </a:p>
        </p:txBody>
      </p:sp>
      <p:sp>
        <p:nvSpPr>
          <p:cNvPr id="14" name="decision-control-summary">
            <a:extLst xmlns:a="http://schemas.openxmlformats.org/drawingml/2006/main">
              <a:ext uri="{FF2B5EF4-FFF2-40B4-BE49-F238E27FC236}">
                <a16:creationId xmlns:a16="http://schemas.microsoft.com/office/drawing/2014/main" id="{B68F9CCA-ED9A-4CE3-AEE6-5AF105697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276600"/>
            <a:ext cx="7867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rPr>
              <a:t>每个移动单元优先用一块 UNO Q 4GB；Linux 跑 ROS 2，MCU 做实时闭环。</a:t>
            </a:r>
          </a:p>
        </p:txBody>
      </p:sp>
      <p:sp>
        <p:nvSpPr>
          <p:cNvPr id="15" name="decision-divider-2">
            <a:extLst xmlns:a="http://schemas.openxmlformats.org/drawingml/2006/main">
              <a:ext uri="{FF2B5EF4-FFF2-40B4-BE49-F238E27FC236}">
                <a16:creationId xmlns:a16="http://schemas.microsoft.com/office/drawing/2014/main" id="{0D9DF030-07EE-4AF1-ABE8-B5D009EE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910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decision-evidence-number">
            <a:extLst xmlns:a="http://schemas.openxmlformats.org/drawingml/2006/main">
              <a:ext uri="{FF2B5EF4-FFF2-40B4-BE49-F238E27FC236}">
                <a16:creationId xmlns:a16="http://schemas.microsoft.com/office/drawing/2014/main" id="{B9FB06F6-A6D5-4AC9-84F6-4ADF4140B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767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1620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1">
                <a:solidFill>
                  <a:srgbClr val="A1620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1">
                <a:solidFill>
                  <a:srgbClr val="A1620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1">
                <a:solidFill>
                  <a:srgbClr val="A1620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1">
                <a:solidFill>
                  <a:srgbClr val="A1620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1">
                <a:solidFill>
                  <a:srgbClr val="A1620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1">
                <a:solidFill>
                  <a:srgbClr val="A1620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1">
                <a:solidFill>
                  <a:srgbClr val="A1620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1">
                <a:solidFill>
                  <a:srgbClr val="A1620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1">
                <a:solidFill>
                  <a:srgbClr val="A1620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A1620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A1620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decision-evidence-label">
            <a:extLst xmlns:a="http://schemas.openxmlformats.org/drawingml/2006/main">
              <a:ext uri="{FF2B5EF4-FFF2-40B4-BE49-F238E27FC236}">
                <a16:creationId xmlns:a16="http://schemas.microsoft.com/office/drawing/2014/main" id="{4FE7259C-90A2-4121-9C75-447E5599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4577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验证原则</a:t>
            </a:r>
          </a:p>
        </p:txBody>
      </p:sp>
      <p:sp>
        <p:nvSpPr>
          <p:cNvPr id="18" name="decision-evidence-summary">
            <a:extLst xmlns:a="http://schemas.openxmlformats.org/drawingml/2006/main">
              <a:ext uri="{FF2B5EF4-FFF2-40B4-BE49-F238E27FC236}">
                <a16:creationId xmlns:a16="http://schemas.microsoft.com/office/drawing/2014/main" id="{B4856201-A07A-4E25-9E7C-5EFE90E72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476750"/>
            <a:ext cx="7867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rPr>
              <a:t>保留树莓派备用链路；没有真实并发测试和传感器驱动证据，不判定单板方案通过。</a:t>
            </a:r>
          </a:p>
        </p:txBody>
      </p:sp>
      <p:sp>
        <p:nvSpPr>
          <p:cNvPr id="19" name="summary-gate">
            <a:extLst xmlns:a="http://schemas.openxmlformats.org/drawingml/2006/main">
              <a:ext uri="{FF2B5EF4-FFF2-40B4-BE49-F238E27FC236}">
                <a16:creationId xmlns:a16="http://schemas.microsoft.com/office/drawing/2014/main" id="{06C37C8B-AF24-4395-BB91-68ACD295E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1074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本轮组会要确认：验收边界、模块定义、时间节点，以及是否接受“先单板、后按证据切换”。</a:t>
            </a:r>
          </a:p>
        </p:txBody>
      </p:sp>
    </p:spTree>
    <p:extLst>
      <p:ext uri="{BB962C8B-B14F-4D97-AF65-F5344CB8AC3E}">
        <p14:creationId xmlns:p14="http://schemas.microsoft.com/office/powerpoint/2010/main" val="13000177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DF7A8099-6134-462E-A911-46943A81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47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5ECCB78-D73A-4A1E-BEE2-C2B4254A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828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两类轮式底盘</a:t>
            </a:r>
          </a:p>
        </p:txBody>
      </p:sp>
      <p:sp>
        <p:nvSpPr>
          <p:cNvPr id="3" name="section-tag">
            <a:extLst xmlns:a="http://schemas.openxmlformats.org/drawingml/2006/main">
              <a:ext uri="{FF2B5EF4-FFF2-40B4-BE49-F238E27FC236}">
                <a16:creationId xmlns:a16="http://schemas.microsoft.com/office/drawing/2014/main" id="{5266AB06-947E-452A-986B-2EA2B292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1950"/>
            <a:ext cx="156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rPr>
              <a:t>01  底盘选型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6D22115-3D38-48B7-8C9A-709EB971F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"/>
            <a:ext cx="10744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rPr>
              <a:t>以“是否存在主动轮腿或形态转换机构”作为工程分类界线。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A519616-7376-4FD6-8D15-F169494A8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graphicFrame>
        <p:nvGraphicFramePr>
          <p:cNvPr id="6" name="chassis-classification-table">
            <a:extLst xmlns:a="http://schemas.openxmlformats.org/drawingml/2006/main">
              <a:ext uri="{FF2B5EF4-FFF2-40B4-BE49-F238E27FC236}">
                <a16:creationId xmlns:a16="http://schemas.microsoft.com/office/drawing/2014/main" id="{6043A18F-CE37-4A0A-A755-AB5F84CD75A1}"/>
              </a:ext>
            </a:extLst>
          </p:cNvPr>
          <p:cNvGraphicFramePr/>
          <p:nvPr/>
        </p:nvGraphicFramePr>
        <p:xfrm>
          <a:off xmlns:a="http://schemas.openxmlformats.org/drawingml/2006/main" x="723900" y="1619250"/>
          <a:ext xmlns:a="http://schemas.openxmlformats.org/drawingml/2006/main" cx="10744200" cy="2781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2476500"/>
                <a:gridCol w="3143250"/>
                <a:gridCol w="3600450"/>
              </a:tblGrid>
              <a:tr h="927100">
                <a:tc>
                  <a:txBody>
                    <a:bodyPr wrap="square" lIns="95250" tIns="57150" rIns="95250" bIns="57150"/>
                    <a:lstStyle/>
                    <a:p>
                      <a:pPr algn="l"/>
                      <a:r>
                        <a:rPr sz="108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分类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E"/>
                      </a:solidFill>
                      <a:prstDash val="solid"/>
                    </a:lnL>
                    <a:lnR w="9525">
                      <a:solidFill>
                        <a:srgbClr val="DCE4EE"/>
                      </a:solidFill>
                      <a:prstDash val="solid"/>
                    </a:lnR>
                    <a:lnT w="9525">
                      <a:solidFill>
                        <a:srgbClr val="DCE4EE"/>
                      </a:solidFill>
                      <a:prstDash val="solid"/>
                    </a:lnT>
                    <a:lnB w="9525">
                      <a:solidFill>
                        <a:srgbClr val="DCE4EE"/>
                      </a:solidFill>
                      <a:prstDash val="solid"/>
                    </a:lnB>
                    <a:solidFill>
                      <a:srgbClr val="0B1730"/>
                    </a:solidFill>
                  </a:tcPr>
                </a:tc>
                <a:tc>
                  <a:txBody>
                    <a:bodyPr wrap="square" lIns="95250" tIns="57150" rIns="95250" bIns="57150"/>
                    <a:lstStyle/>
                    <a:p>
                      <a:pPr algn="l"/>
                      <a:r>
                        <a:rPr sz="108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结构边界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E"/>
                      </a:solidFill>
                      <a:prstDash val="solid"/>
                    </a:lnR>
                    <a:lnT w="9525">
                      <a:solidFill>
                        <a:srgbClr val="DCE4EE"/>
                      </a:solidFill>
                      <a:prstDash val="solid"/>
                    </a:lnT>
                    <a:lnB w="9525">
                      <a:solidFill>
                        <a:srgbClr val="DCE4EE"/>
                      </a:solidFill>
                      <a:prstDash val="solid"/>
                    </a:lnB>
                    <a:solidFill>
                      <a:srgbClr val="0B1730"/>
                    </a:solidFill>
                  </a:tcPr>
                </a:tc>
                <a:tc>
                  <a:txBody>
                    <a:bodyPr wrap="square" lIns="95250" tIns="57150" rIns="95250" bIns="57150"/>
                    <a:lstStyle/>
                    <a:p>
                      <a:pPr algn="l"/>
                      <a:r>
                        <a:rPr sz="108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机会与代价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E"/>
                      </a:solidFill>
                      <a:prstDash val="solid"/>
                    </a:lnR>
                    <a:lnT w="9525">
                      <a:solidFill>
                        <a:srgbClr val="DCE4EE"/>
                      </a:solidFill>
                      <a:prstDash val="solid"/>
                    </a:lnT>
                    <a:lnB w="9525">
                      <a:solidFill>
                        <a:srgbClr val="DCE4EE"/>
                      </a:solidFill>
                      <a:prstDash val="solid"/>
                    </a:lnB>
                    <a:solidFill>
                      <a:srgbClr val="0B1730"/>
                    </a:solidFill>
                  </a:tcPr>
                </a:tc>
                <a:tc>
                  <a:txBody>
                    <a:bodyPr wrap="square" lIns="95250" tIns="57150" rIns="95250" bIns="57150"/>
                    <a:lstStyle/>
                    <a:p>
                      <a:pPr algn="l"/>
                      <a:r>
                        <a:rPr sz="108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本项目落点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E"/>
                      </a:solidFill>
                      <a:prstDash val="solid"/>
                    </a:lnR>
                    <a:lnT w="9525">
                      <a:solidFill>
                        <a:srgbClr val="DCE4EE"/>
                      </a:solidFill>
                      <a:prstDash val="solid"/>
                    </a:lnT>
                    <a:lnB w="9525">
                      <a:solidFill>
                        <a:srgbClr val="DCE4EE"/>
                      </a:solidFill>
                      <a:prstDash val="solid"/>
                    </a:lnB>
                    <a:solidFill>
                      <a:srgbClr val="0B1730"/>
                    </a:solidFill>
                  </a:tcPr>
                </a:tc>
              </a:tr>
              <a:tr h="927100">
                <a:tc>
                  <a:txBody>
                    <a:bodyPr wrap="square" lIns="95250" tIns="57150" rIns="95250" bIns="57150"/>
                    <a:lstStyle/>
                    <a:p>
                      <a:pPr algn="l"/>
                      <a:r>
                        <a:rPr sz="1088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 常规轮式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E"/>
                      </a:solidFill>
                      <a:prstDash val="solid"/>
                    </a:lnL>
                    <a:lnR w="9525">
                      <a:solidFill>
                        <a:srgbClr val="DCE4EE"/>
                      </a:solidFill>
                      <a:prstDash val="solid"/>
                    </a:lnR>
                    <a:lnB w="9525">
                      <a:solidFill>
                        <a:srgbClr val="DC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/>
                    <a:lstStyle/>
                    <a:p>
                      <a:pPr algn="l"/>
                      <a:r>
                        <a:rPr sz="1088" b="0">
                          <a:solidFill>
                            <a:srgbClr val="3D4A5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可有转向关节、悬挂或云台，但没有主动抬腿、伸缩腿或轮腿形态转换。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E"/>
                      </a:solidFill>
                      <a:prstDash val="solid"/>
                    </a:lnR>
                    <a:lnB w="9525">
                      <a:solidFill>
                        <a:srgbClr val="DC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/>
                    <a:lstStyle/>
                    <a:p>
                      <a:pPr algn="l"/>
                      <a:r>
                        <a:rPr sz="1088" b="0">
                          <a:solidFill>
                            <a:srgbClr val="3D4A5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静态稳定，运动学和底盘制作容易验证；室内通过性主要由轮径、悬挂和载荷决定。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E"/>
                      </a:solidFill>
                      <a:prstDash val="solid"/>
                    </a:lnR>
                    <a:lnB w="9525">
                      <a:solidFill>
                        <a:srgbClr val="DC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/>
                    <a:lstStyle/>
                    <a:p>
                      <a:pPr algn="l"/>
                      <a:r>
                        <a:rPr sz="1088" b="0">
                          <a:solidFill>
                            <a:srgbClr val="3D4A5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第一阶段主线：两轮差速单元，完成两个单元的机械组合与协调。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E"/>
                      </a:solidFill>
                      <a:prstDash val="solid"/>
                    </a:lnR>
                    <a:lnB w="9525">
                      <a:solidFill>
                        <a:srgbClr val="DC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27100">
                <a:tc>
                  <a:txBody>
                    <a:bodyPr wrap="square" lIns="95250" tIns="57150" rIns="95250" bIns="57150"/>
                    <a:lstStyle/>
                    <a:p>
                      <a:pPr algn="l"/>
                      <a:r>
                        <a:rPr sz="1088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  主动关节轮式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E"/>
                      </a:solidFill>
                      <a:prstDash val="solid"/>
                    </a:lnL>
                    <a:lnR w="9525">
                      <a:solidFill>
                        <a:srgbClr val="DCE4EE"/>
                      </a:solidFill>
                      <a:prstDash val="solid"/>
                    </a:lnR>
                    <a:lnB w="9525">
                      <a:solidFill>
                        <a:srgbClr val="DCE4EE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 lIns="95250" tIns="57150" rIns="95250" bIns="57150"/>
                    <a:lstStyle/>
                    <a:p>
                      <a:pPr algn="l"/>
                      <a:r>
                        <a:rPr sz="1088" b="0">
                          <a:solidFill>
                            <a:srgbClr val="3D4A5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主动关节改变轮子相对机身的位置，或切换轮/腿形态。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E"/>
                      </a:solidFill>
                      <a:prstDash val="solid"/>
                    </a:lnR>
                    <a:lnB w="9525">
                      <a:solidFill>
                        <a:srgbClr val="DCE4EE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 lIns="95250" tIns="57150" rIns="95250" bIns="57150"/>
                    <a:lstStyle/>
                    <a:p>
                      <a:pPr algn="l"/>
                      <a:r>
                        <a:rPr sz="1088" b="0">
                          <a:solidFill>
                            <a:srgbClr val="3D4A5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可通过性与姿态能力更强，但增加执行器、质量、控制状态和失效风险。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E"/>
                      </a:solidFill>
                      <a:prstDash val="solid"/>
                    </a:lnR>
                    <a:lnB w="9525">
                      <a:solidFill>
                        <a:srgbClr val="DCE4EE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 lIns="95250" tIns="57150" rIns="95250" bIns="57150"/>
                    <a:lstStyle/>
                    <a:p>
                      <a:pPr algn="l"/>
                      <a:r>
                        <a:rPr sz="1088" b="0">
                          <a:solidFill>
                            <a:srgbClr val="3D4A5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第二阶段扩展：核心通过后制作可替换轮腿单元，做性能对照。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E"/>
                      </a:solidFill>
                      <a:prstDash val="solid"/>
                    </a:lnR>
                    <a:lnB w="9525">
                      <a:solidFill>
                        <a:srgbClr val="DCE4EE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7" name="chassis-note-rule">
            <a:extLst xmlns:a="http://schemas.openxmlformats.org/drawingml/2006/main">
              <a:ext uri="{FF2B5EF4-FFF2-40B4-BE49-F238E27FC236}">
                <a16:creationId xmlns:a16="http://schemas.microsoft.com/office/drawing/2014/main" id="{C06AC6EF-EFE5-4725-B836-5BCAF626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820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hassis-principles">
            <a:extLst xmlns:a="http://schemas.openxmlformats.org/drawingml/2006/main">
              <a:ext uri="{FF2B5EF4-FFF2-40B4-BE49-F238E27FC236}">
                <a16:creationId xmlns:a16="http://schemas.microsoft.com/office/drawing/2014/main" id="{9F5E3764-7666-49C3-8E9C-DDE98DC19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1000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826"/>
          </a:bodyPr>
          <a:lstStyle xmlns:a="http://schemas.openxmlformats.org/drawingml/2006/main">
            <a:defPPr algn="l">
              <a:defRPr sz="120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rPr>
              <a:t>三个需要分开的判断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rPr>
              <a:t>跟随能力与底盘分类相互独立。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rPr>
              <a:t>固定双轮同样可能需要动态平衡；主动关节本身不带来跳跃能力。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rPr>
              <a:t>跳跃必须单独验证功率、机构强度、起跳与落地控制。</a:t>
            </a:r>
          </a:p>
        </p:txBody>
      </p:sp>
    </p:spTree>
    <p:extLst>
      <p:ext uri="{BB962C8B-B14F-4D97-AF65-F5344CB8AC3E}">
        <p14:creationId xmlns:p14="http://schemas.microsoft.com/office/powerpoint/2010/main" val="4654651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AEB7B59F-5E11-4326-9CFA-0E171C043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47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3C163BC-F0C2-4E78-9AEB-4F2D705D0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828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参考平台与可借鉴内容</a:t>
            </a:r>
          </a:p>
        </p:txBody>
      </p:sp>
      <p:sp>
        <p:nvSpPr>
          <p:cNvPr id="3" name="section-tag">
            <a:extLst xmlns:a="http://schemas.openxmlformats.org/drawingml/2006/main">
              <a:ext uri="{FF2B5EF4-FFF2-40B4-BE49-F238E27FC236}">
                <a16:creationId xmlns:a16="http://schemas.microsoft.com/office/drawing/2014/main" id="{C37362FD-A063-4777-98F4-8DDF4F995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1950"/>
            <a:ext cx="156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rPr>
              <a:t>01  底盘选型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2A6EA7F-108D-4F44-B559-58ADF43D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"/>
            <a:ext cx="10744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rPr>
              <a:t>市场套件和开源项目用于验证架构、接口和实验方法，整机仍由本项目自行设计。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1AD169A-ECFD-401F-88FF-C981E4956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6" name="ref-a-title">
            <a:extLst xmlns:a="http://schemas.openxmlformats.org/drawingml/2006/main">
              <a:ext uri="{FF2B5EF4-FFF2-40B4-BE49-F238E27FC236}">
                <a16:creationId xmlns:a16="http://schemas.microsoft.com/office/drawing/2014/main" id="{AF907621-DA77-46B9-B746-FED51C770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A  常规轮式</a:t>
            </a:r>
          </a:p>
        </p:txBody>
      </p:sp>
      <p:sp>
        <p:nvSpPr>
          <p:cNvPr id="7" name="ref-b-title">
            <a:extLst xmlns:a="http://schemas.openxmlformats.org/drawingml/2006/main">
              <a:ext uri="{FF2B5EF4-FFF2-40B4-BE49-F238E27FC236}">
                <a16:creationId xmlns:a16="http://schemas.microsoft.com/office/drawing/2014/main" id="{590FB92C-AD22-4D89-AF94-AACB29F3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0020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B  主动轮腿</a:t>
            </a:r>
          </a:p>
        </p:txBody>
      </p:sp>
      <p:sp>
        <p:nvSpPr>
          <p:cNvPr id="8" name="ref-a-rule">
            <a:extLst xmlns:a="http://schemas.openxmlformats.org/drawingml/2006/main">
              <a:ext uri="{FF2B5EF4-FFF2-40B4-BE49-F238E27FC236}">
                <a16:creationId xmlns:a16="http://schemas.microsoft.com/office/drawing/2014/main" id="{2BF1FF9B-5538-42E6-8E28-92FAAFB31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ef-b-rule">
            <a:extLst xmlns:a="http://schemas.openxmlformats.org/drawingml/2006/main">
              <a:ext uri="{FF2B5EF4-FFF2-40B4-BE49-F238E27FC236}">
                <a16:creationId xmlns:a16="http://schemas.microsoft.com/office/drawing/2014/main" id="{2C2238E8-AB24-4758-9A8A-7D1E6ED0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05000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ef-a-text">
            <a:extLst xmlns:a="http://schemas.openxmlformats.org/drawingml/2006/main">
              <a:ext uri="{FF2B5EF4-FFF2-40B4-BE49-F238E27FC236}">
                <a16:creationId xmlns:a16="http://schemas.microsoft.com/office/drawing/2014/main" id="{EF8F8787-5923-40DB-B200-352855516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5048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rPr>
              <a:t>Waveshare UGV Rover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rPr>
              <a:t>Pi + ESP32、LiDAR + OAK-D、ROS 2；最接近感知与控制分层。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rPr>
              <a:t>MentorPi M1 / ROSMASTER M3、X3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rPr>
              <a:t>ROS 2 课程、SLAM、导航与跟随案例；群控不等于刚性机械组合。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rPr>
              <a:t>Gita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rPr>
              <a:t>产品级载物与人员跟随；公开资料适合借交互，不作为开源底盘基线。</a:t>
            </a:r>
          </a:p>
        </p:txBody>
      </p:sp>
      <p:sp>
        <p:nvSpPr>
          <p:cNvPr id="11" name="ref-b-text">
            <a:extLst xmlns:a="http://schemas.openxmlformats.org/drawingml/2006/main">
              <a:ext uri="{FF2B5EF4-FFF2-40B4-BE49-F238E27FC236}">
                <a16:creationId xmlns:a16="http://schemas.microsoft.com/office/drawing/2014/main" id="{71EF699C-07B4-4A59-A82A-BFB819D8B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14550"/>
            <a:ext cx="5048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rPr>
              <a:t>Skythinker FOC 双轮腿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rPr>
              <a:t>Simscape 建模、STM32 FOC/CAN、平衡与跌落缓冲；缺少完整 ROS 2 感知栈。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rPr>
              <a:t>MuShibo Micro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rPr>
              <a:t>桌面级轮腿、PCB 与机构资料完整；载重、传感器扩展和跳跃能力需重新验证。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rPr>
              <a:t>SWheg 论文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rPr>
              <a:t>轮腿形态转换与越障研究；不等于多个独立单元的机械组合。</a:t>
            </a:r>
          </a:p>
        </p:txBody>
      </p:sp>
      <p:sp>
        <p:nvSpPr>
          <p:cNvPr id="12" name="ref-bottom">
            <a:extLst xmlns:a="http://schemas.openxmlformats.org/drawingml/2006/main">
              <a:ext uri="{FF2B5EF4-FFF2-40B4-BE49-F238E27FC236}">
                <a16:creationId xmlns:a16="http://schemas.microsoft.com/office/drawing/2014/main" id="{722C59C7-52CA-49C4-92D9-2D7BFB741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10744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CBD9F5"/>
            </a:solidFill>
            <a:prstDash val="solid"/>
          </a:ln>
        </p:spPr>
      </p:sp>
      <p:sp>
        <p:nvSpPr>
          <p:cNvPr id="13" name="ref-bottom-accent">
            <a:extLst xmlns:a="http://schemas.openxmlformats.org/drawingml/2006/main">
              <a:ext uri="{FF2B5EF4-FFF2-40B4-BE49-F238E27FC236}">
                <a16:creationId xmlns:a16="http://schemas.microsoft.com/office/drawing/2014/main" id="{D3D8EEA3-F6F8-464B-A7D9-5843526E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ef-bottom-text">
            <a:extLst xmlns:a="http://schemas.openxmlformats.org/drawingml/2006/main">
              <a:ext uri="{FF2B5EF4-FFF2-40B4-BE49-F238E27FC236}">
                <a16:creationId xmlns:a16="http://schemas.microsoft.com/office/drawing/2014/main" id="{3E97BA50-FCF6-4970-8A25-D180C45CE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72125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5398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15398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15398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15398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15398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15398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15398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15398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15398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15398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539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5398F"/>
                </a:solidFill>
                <a:latin typeface="Microsoft YaHei"/>
                <a:ea typeface="Microsoft YaHei"/>
                <a:cs typeface="Microsoft YaHei"/>
              </a:rPr>
              <a:t>采用原则：借用控制分层、传感器安装和实验设计；机械连接、单元协调、故障保护和最终评价由本项目完成。</a:t>
            </a:r>
          </a:p>
        </p:txBody>
      </p:sp>
    </p:spTree>
    <p:extLst>
      <p:ext uri="{BB962C8B-B14F-4D97-AF65-F5344CB8AC3E}">
        <p14:creationId xmlns:p14="http://schemas.microsoft.com/office/powerpoint/2010/main" val="3703015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C13D12FC-A002-40B8-B849-DEFACDE5F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47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8973523-7C80-426A-B756-0CFEA8F3C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828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底盘实施路线：先核心，后扩展</a:t>
            </a:r>
          </a:p>
        </p:txBody>
      </p:sp>
      <p:sp>
        <p:nvSpPr>
          <p:cNvPr id="3" name="section-tag">
            <a:extLst xmlns:a="http://schemas.openxmlformats.org/drawingml/2006/main">
              <a:ext uri="{FF2B5EF4-FFF2-40B4-BE49-F238E27FC236}">
                <a16:creationId xmlns:a16="http://schemas.microsoft.com/office/drawing/2014/main" id="{61123C9D-C69E-42DE-BFB0-C022B48E6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1950"/>
            <a:ext cx="156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rPr>
              <a:t>01  底盘选型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B849425-991B-4CBD-85A2-D1633423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"/>
            <a:ext cx="10744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rPr>
              <a:t>统一接口先由常规轮式定义，轮腿底盘作为第二个移动单元验证。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0EA978B-0B63-48A4-ADDE-13F49B77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6" name="phase-core">
            <a:extLst xmlns:a="http://schemas.openxmlformats.org/drawingml/2006/main">
              <a:ext uri="{FF2B5EF4-FFF2-40B4-BE49-F238E27FC236}">
                <a16:creationId xmlns:a16="http://schemas.microsoft.com/office/drawing/2014/main" id="{841500D1-7FF0-4702-BDDF-7EAFA7CFC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68961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  <a:prstDash val="solid"/>
          </a:ln>
        </p:spPr>
      </p:sp>
      <p:sp>
        <p:nvSpPr>
          <p:cNvPr id="7" name="phase-core-top">
            <a:extLst xmlns:a="http://schemas.openxmlformats.org/drawingml/2006/main">
              <a:ext uri="{FF2B5EF4-FFF2-40B4-BE49-F238E27FC236}">
                <a16:creationId xmlns:a16="http://schemas.microsoft.com/office/drawing/2014/main" id="{01464F22-A657-4923-9548-07158DCB0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6896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hase-core-eyebrow">
            <a:extLst xmlns:a="http://schemas.openxmlformats.org/drawingml/2006/main">
              <a:ext uri="{FF2B5EF4-FFF2-40B4-BE49-F238E27FC236}">
                <a16:creationId xmlns:a16="http://schemas.microsoft.com/office/drawing/2014/main" id="{642F4865-8E3A-4833-A0DF-70EB89B1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24050"/>
            <a:ext cx="6438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第一阶段  ·  2026.10—2027.03</a:t>
            </a:r>
          </a:p>
        </p:txBody>
      </p:sp>
      <p:sp>
        <p:nvSpPr>
          <p:cNvPr id="9" name="phase-core-title">
            <a:extLst xmlns:a="http://schemas.openxmlformats.org/drawingml/2006/main">
              <a:ext uri="{FF2B5EF4-FFF2-40B4-BE49-F238E27FC236}">
                <a16:creationId xmlns:a16="http://schemas.microsoft.com/office/drawing/2014/main" id="{E9EFA274-4D68-405F-A80E-5EDFC074B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09800"/>
            <a:ext cx="6438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常规轮式核心系统</a:t>
            </a:r>
          </a:p>
        </p:txBody>
      </p:sp>
      <p:sp>
        <p:nvSpPr>
          <p:cNvPr id="10" name="phase-core-bullets">
            <a:extLst xmlns:a="http://schemas.openxmlformats.org/drawingml/2006/main">
              <a:ext uri="{FF2B5EF4-FFF2-40B4-BE49-F238E27FC236}">
                <a16:creationId xmlns:a16="http://schemas.microsoft.com/office/drawing/2014/main" id="{2F147B38-81B4-4906-A042-DC455F5A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0"/>
            <a:ext cx="64389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rPr>
              <a:t>两个相同差速单元，独立行驶并人工机械连接。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rPr>
              <a:t>标准机械、供电与通信接口；单元编号和构型配置。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rPr>
              <a:t>LiDAR/深度建图、Edge-AI 检测、指定人员跟随。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rPr>
              <a:t>单体与组合定量实验、安全保护与报告材料。</a:t>
            </a:r>
          </a:p>
        </p:txBody>
      </p:sp>
      <p:sp>
        <p:nvSpPr>
          <p:cNvPr id="11" name="phase-core-footer-rule">
            <a:extLst xmlns:a="http://schemas.openxmlformats.org/drawingml/2006/main">
              <a:ext uri="{FF2B5EF4-FFF2-40B4-BE49-F238E27FC236}">
                <a16:creationId xmlns:a16="http://schemas.microsoft.com/office/drawing/2014/main" id="{9301E8B9-841B-4FAD-9B3A-306068B71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62450"/>
            <a:ext cx="6438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hase-core-footer">
            <a:extLst xmlns:a="http://schemas.openxmlformats.org/drawingml/2006/main">
              <a:ext uri="{FF2B5EF4-FFF2-40B4-BE49-F238E27FC236}">
                <a16:creationId xmlns:a16="http://schemas.microsoft.com/office/drawing/2014/main" id="{72EE1FEB-1428-40CE-99C3-E93DCDE5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76750"/>
            <a:ext cx="643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完成条件：两个单元、模块换装、组合运动和感知任务均有可重复证据。</a:t>
            </a:r>
          </a:p>
        </p:txBody>
      </p:sp>
      <p:sp>
        <p:nvSpPr>
          <p:cNvPr id="13" name="phase-leg">
            <a:extLst xmlns:a="http://schemas.openxmlformats.org/drawingml/2006/main">
              <a:ext uri="{FF2B5EF4-FFF2-40B4-BE49-F238E27FC236}">
                <a16:creationId xmlns:a16="http://schemas.microsoft.com/office/drawing/2014/main" id="{5F25C988-8200-4000-84E4-020510A81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95450"/>
            <a:ext cx="33718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4"/>
          </a:solidFill>
          <a:ln xmlns:a="http://schemas.openxmlformats.org/drawingml/2006/main" w="9525">
            <a:solidFill>
              <a:srgbClr val="DCE4EE"/>
            </a:solidFill>
            <a:prstDash val="solid"/>
          </a:ln>
        </p:spPr>
      </p:sp>
      <p:sp>
        <p:nvSpPr>
          <p:cNvPr id="14" name="phase-leg-top">
            <a:extLst xmlns:a="http://schemas.openxmlformats.org/drawingml/2006/main">
              <a:ext uri="{FF2B5EF4-FFF2-40B4-BE49-F238E27FC236}">
                <a16:creationId xmlns:a16="http://schemas.microsoft.com/office/drawing/2014/main" id="{7B96D42D-ACE9-4AA8-B99C-B2C236236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95450"/>
            <a:ext cx="3371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hase-leg-eyebrow">
            <a:extLst xmlns:a="http://schemas.openxmlformats.org/drawingml/2006/main">
              <a:ext uri="{FF2B5EF4-FFF2-40B4-BE49-F238E27FC236}">
                <a16:creationId xmlns:a16="http://schemas.microsoft.com/office/drawing/2014/main" id="{17C5B3D1-EDF9-4271-8D1A-D8E2B27F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24050"/>
            <a:ext cx="2914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第二阶段  ·  核心通过后</a:t>
            </a:r>
          </a:p>
        </p:txBody>
      </p:sp>
      <p:sp>
        <p:nvSpPr>
          <p:cNvPr id="16" name="phase-leg-title">
            <a:extLst xmlns:a="http://schemas.openxmlformats.org/drawingml/2006/main">
              <a:ext uri="{FF2B5EF4-FFF2-40B4-BE49-F238E27FC236}">
                <a16:creationId xmlns:a16="http://schemas.microsoft.com/office/drawing/2014/main" id="{D9B10D5A-85BC-45EA-B4DA-763349B5F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0980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主动轮腿扩展</a:t>
            </a:r>
          </a:p>
        </p:txBody>
      </p:sp>
      <p:sp>
        <p:nvSpPr>
          <p:cNvPr id="17" name="phase-leg-bullets">
            <a:extLst xmlns:a="http://schemas.openxmlformats.org/drawingml/2006/main">
              <a:ext uri="{FF2B5EF4-FFF2-40B4-BE49-F238E27FC236}">
                <a16:creationId xmlns:a16="http://schemas.microsoft.com/office/drawing/2014/main" id="{4DC55546-B1E8-4A00-9CB2-9318DD153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67000"/>
            <a:ext cx="29146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rPr>
              <a:t>换装同一套上层模块与接口。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rPr>
              <a:t>验证平衡、姿态、低速行驶和模块带载。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rPr>
              <a:t>比较越障、平稳性、跟随与能耗。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rPr>
              <a:t>跳跃单独立项，不进入核心验收。</a:t>
            </a:r>
          </a:p>
        </p:txBody>
      </p:sp>
      <p:sp>
        <p:nvSpPr>
          <p:cNvPr id="18" name="phase-leg-footer-rule">
            <a:extLst xmlns:a="http://schemas.openxmlformats.org/drawingml/2006/main">
              <a:ext uri="{FF2B5EF4-FFF2-40B4-BE49-F238E27FC236}">
                <a16:creationId xmlns:a16="http://schemas.microsoft.com/office/drawing/2014/main" id="{4E1A46BD-4796-4583-BF42-E447F9F44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362450"/>
            <a:ext cx="291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hase-leg-footer">
            <a:extLst xmlns:a="http://schemas.openxmlformats.org/drawingml/2006/main">
              <a:ext uri="{FF2B5EF4-FFF2-40B4-BE49-F238E27FC236}">
                <a16:creationId xmlns:a16="http://schemas.microsoft.com/office/drawing/2014/main" id="{874CCAA3-89E9-45C5-B515-714F521A4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7675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未预留工期则保留设计，不启动制造。</a:t>
            </a:r>
          </a:p>
        </p:txBody>
      </p:sp>
      <p:sp>
        <p:nvSpPr>
          <p:cNvPr id="20" name="route-arrow">
            <a:extLst xmlns:a="http://schemas.openxmlformats.org/drawingml/2006/main">
              <a:ext uri="{FF2B5EF4-FFF2-40B4-BE49-F238E27FC236}">
                <a16:creationId xmlns:a16="http://schemas.microsoft.com/office/drawing/2014/main" id="{41153504-3791-4B66-9531-602BD276E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857500"/>
            <a:ext cx="342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24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4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4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4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4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4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4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4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4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4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24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1" name="route-gate">
            <a:extLst xmlns:a="http://schemas.openxmlformats.org/drawingml/2006/main">
              <a:ext uri="{FF2B5EF4-FFF2-40B4-BE49-F238E27FC236}">
                <a16:creationId xmlns:a16="http://schemas.microsoft.com/office/drawing/2014/main" id="{BF93D769-1700-47C1-B5CB-DAFAF99F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62550"/>
            <a:ext cx="10744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F"/>
          </a:solidFill>
          <a:ln xmlns:a="http://schemas.openxmlformats.org/drawingml/2006/main" w="9525">
            <a:solidFill>
              <a:srgbClr val="F1D89A"/>
            </a:solidFill>
            <a:prstDash val="solid"/>
          </a:ln>
        </p:spPr>
      </p:sp>
      <p:sp>
        <p:nvSpPr>
          <p:cNvPr id="22" name="route-gate-accent">
            <a:extLst xmlns:a="http://schemas.openxmlformats.org/drawingml/2006/main">
              <a:ext uri="{FF2B5EF4-FFF2-40B4-BE49-F238E27FC236}">
                <a16:creationId xmlns:a16="http://schemas.microsoft.com/office/drawing/2014/main" id="{FF6E6317-754A-4D4A-BAFD-43A13603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625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62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route-gate-text">
            <a:extLst xmlns:a="http://schemas.openxmlformats.org/drawingml/2006/main">
              <a:ext uri="{FF2B5EF4-FFF2-40B4-BE49-F238E27FC236}">
                <a16:creationId xmlns:a16="http://schemas.microsoft.com/office/drawing/2014/main" id="{53CDCF34-9212-455F-92BF-0570B78AA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81625"/>
            <a:ext cx="10172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7A4B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7A4B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7A4B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7A4B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7A4B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7A4B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7A4B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7A4B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7A4B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7A4B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7A4B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A4B00"/>
                </a:solidFill>
                <a:latin typeface="Microsoft YaHei"/>
                <a:ea typeface="Microsoft YaHei"/>
                <a:cs typeface="Microsoft YaHei"/>
              </a:rPr>
              <a:t>阶段门：核心系统未通过，就取消轮腿制造并把时间用于核心修复。轮腿扩展不承担正式验收的前置依赖。</a:t>
            </a:r>
          </a:p>
        </p:txBody>
      </p:sp>
    </p:spTree>
    <p:extLst>
      <p:ext uri="{BB962C8B-B14F-4D97-AF65-F5344CB8AC3E}">
        <p14:creationId xmlns:p14="http://schemas.microsoft.com/office/powerpoint/2010/main" val="15037828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59E480-1CC5-404D-B8EE-26BFAD12372B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8915400" y="240982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C8DA5"/>
            </a:solidFill>
            <a:prstDash val="solid"/>
            <a:tailEnd type="triangle" w="sm" len="sm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C8521C-5F2B-497C-8412-C58FB8C5E270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6762750" y="240982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C8DA5"/>
            </a:solidFill>
            <a:prstDash val="solid"/>
            <a:tailEnd type="triangle" w="sm" len="sm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2FC762-0C45-4B7A-8E19-5E6ACB193B62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610100" y="240982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C8DA5"/>
            </a:solidFill>
            <a:prstDash val="solid"/>
            <a:tailEnd type="triangle" w="sm" len="sm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72BBE5-4F70-43CC-A168-AEFF42DCB7D9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457450" y="240982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C8DA5"/>
            </a:solidFill>
            <a:prstDash val="solid"/>
            <a:tailEnd type="triangle" w="sm" len="sm"/>
          </a:ln>
        </p:spPr>
      </p:cxnSp>
      <p:sp>
        <p:nvSpPr>
          <p:cNvPr id="41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C44B391A-C726-4679-BDB3-0E5021AF9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47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5AD2511-04F2-4A14-880A-42088EE22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828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UNO Q 的控制分工</a:t>
            </a:r>
          </a:p>
        </p:txBody>
      </p:sp>
      <p:sp>
        <p:nvSpPr>
          <p:cNvPr id="3" name="section-tag">
            <a:extLst xmlns:a="http://schemas.openxmlformats.org/drawingml/2006/main">
              <a:ext uri="{FF2B5EF4-FFF2-40B4-BE49-F238E27FC236}">
                <a16:creationId xmlns:a16="http://schemas.microsoft.com/office/drawing/2014/main" id="{64072B8F-B485-46FC-A919-A7077BBA7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1950"/>
            <a:ext cx="156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rPr>
              <a:t>02  UNO Q 路线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D9935E6-E20E-42BC-A48C-C4F858CEC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"/>
            <a:ext cx="10744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rPr>
              <a:t>同一块板包含 Linux MPU 与 STM32 MCU 两个执行域，视觉与建图留在 Linux 侧。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85AD4F1-1681-4D54-AEE6-F66B61145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6" name="diagram-sensors">
            <a:extLst xmlns:a="http://schemas.openxmlformats.org/drawingml/2006/main">
              <a:ext uri="{FF2B5EF4-FFF2-40B4-BE49-F238E27FC236}">
                <a16:creationId xmlns:a16="http://schemas.microsoft.com/office/drawing/2014/main" id="{D2C74A89-4E07-4D8A-BE1A-E22C84FC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17335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CE4EE"/>
            </a:solidFill>
            <a:prstDash val="solid"/>
          </a:ln>
        </p:spPr>
      </p:sp>
      <p:sp>
        <p:nvSpPr>
          <p:cNvPr id="7" name="diagram-sensors-top">
            <a:extLst xmlns:a="http://schemas.openxmlformats.org/drawingml/2006/main">
              <a:ext uri="{FF2B5EF4-FFF2-40B4-BE49-F238E27FC236}">
                <a16:creationId xmlns:a16="http://schemas.microsoft.com/office/drawing/2014/main" id="{CCBAD704-811A-4ABA-BBB0-EBDA4E063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1733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iagram-sensors-heading">
            <a:extLst xmlns:a="http://schemas.openxmlformats.org/drawingml/2006/main">
              <a:ext uri="{FF2B5EF4-FFF2-40B4-BE49-F238E27FC236}">
                <a16:creationId xmlns:a16="http://schemas.microsoft.com/office/drawing/2014/main" id="{723CC776-A82C-4A72-85E8-490829A5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97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传感器</a:t>
            </a:r>
          </a:p>
        </p:txBody>
      </p:sp>
      <p:sp>
        <p:nvSpPr>
          <p:cNvPr id="9" name="diagram-sensors-detail">
            <a:extLst xmlns:a="http://schemas.openxmlformats.org/drawingml/2006/main">
              <a:ext uri="{FF2B5EF4-FFF2-40B4-BE49-F238E27FC236}">
                <a16:creationId xmlns:a16="http://schemas.microsoft.com/office/drawing/2014/main" id="{190F0069-AA91-4164-B3D4-76A75D24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1466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0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0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0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0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0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0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0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0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0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0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rPr>
              <a:t>LiDAR / 深度相机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0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rPr>
              <a:t>相机 / IMU</a:t>
            </a:r>
          </a:p>
        </p:txBody>
      </p:sp>
      <p:sp>
        <p:nvSpPr>
          <p:cNvPr id="10" name="diagram-linux">
            <a:extLst xmlns:a="http://schemas.openxmlformats.org/drawingml/2006/main">
              <a:ext uri="{FF2B5EF4-FFF2-40B4-BE49-F238E27FC236}">
                <a16:creationId xmlns:a16="http://schemas.microsoft.com/office/drawing/2014/main" id="{D9C1C834-55C3-4ED9-ACD9-32F6DEF5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847850"/>
            <a:ext cx="17335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CBD9F5"/>
            </a:solidFill>
            <a:prstDash val="solid"/>
          </a:ln>
        </p:spPr>
      </p:sp>
      <p:sp>
        <p:nvSpPr>
          <p:cNvPr id="11" name="diagram-linux-top">
            <a:extLst xmlns:a="http://schemas.openxmlformats.org/drawingml/2006/main">
              <a:ext uri="{FF2B5EF4-FFF2-40B4-BE49-F238E27FC236}">
                <a16:creationId xmlns:a16="http://schemas.microsoft.com/office/drawing/2014/main" id="{6459BB86-A26C-40F3-9CF0-66FCF73FC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847850"/>
            <a:ext cx="1733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diagram-linux-heading">
            <a:extLst xmlns:a="http://schemas.openxmlformats.org/drawingml/2006/main">
              <a:ext uri="{FF2B5EF4-FFF2-40B4-BE49-F238E27FC236}">
                <a16:creationId xmlns:a16="http://schemas.microsoft.com/office/drawing/2014/main" id="{E04AFE95-2CF9-4A2F-9217-F6A5DA710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0097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779"/>
          </a:bodyPr>
          <a:lstStyle xmlns:a="http://schemas.openxmlformats.org/drawingml/2006/main">
            <a:defPPr algn="ctr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UNO Q Linux 4GB</a:t>
            </a:r>
          </a:p>
        </p:txBody>
      </p:sp>
      <p:sp>
        <p:nvSpPr>
          <p:cNvPr id="13" name="diagram-linux-detail">
            <a:extLst xmlns:a="http://schemas.openxmlformats.org/drawingml/2006/main">
              <a:ext uri="{FF2B5EF4-FFF2-40B4-BE49-F238E27FC236}">
                <a16:creationId xmlns:a16="http://schemas.microsoft.com/office/drawing/2014/main" id="{D7B595BD-6EB1-4705-8BB3-0F5614FCE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43150"/>
            <a:ext cx="1466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0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0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0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0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0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0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0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0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0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0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rPr>
              <a:t>ROS 2、建图、检测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0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rPr>
              <a:t>跟随与单元协调</a:t>
            </a:r>
          </a:p>
        </p:txBody>
      </p:sp>
      <p:sp>
        <p:nvSpPr>
          <p:cNvPr id="14" name="diagram-bridge">
            <a:extLst xmlns:a="http://schemas.openxmlformats.org/drawingml/2006/main">
              <a:ext uri="{FF2B5EF4-FFF2-40B4-BE49-F238E27FC236}">
                <a16:creationId xmlns:a16="http://schemas.microsoft.com/office/drawing/2014/main" id="{0EE87359-F721-42AF-9FC4-79D020664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47850"/>
            <a:ext cx="17335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CE4EE"/>
            </a:solidFill>
            <a:prstDash val="solid"/>
          </a:ln>
        </p:spPr>
      </p:sp>
      <p:sp>
        <p:nvSpPr>
          <p:cNvPr id="15" name="diagram-bridge-top">
            <a:extLst xmlns:a="http://schemas.openxmlformats.org/drawingml/2006/main">
              <a:ext uri="{FF2B5EF4-FFF2-40B4-BE49-F238E27FC236}">
                <a16:creationId xmlns:a16="http://schemas.microsoft.com/office/drawing/2014/main" id="{1654B2F7-EA5B-4E70-A2A8-F1359A97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47850"/>
            <a:ext cx="1733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9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diagram-bridge-heading">
            <a:extLst xmlns:a="http://schemas.openxmlformats.org/drawingml/2006/main">
              <a:ext uri="{FF2B5EF4-FFF2-40B4-BE49-F238E27FC236}">
                <a16:creationId xmlns:a16="http://schemas.microsoft.com/office/drawing/2014/main" id="{02BFF6F6-1F93-4FAE-8956-4F17DCD5D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097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Bridge / RPC</a:t>
            </a:r>
          </a:p>
        </p:txBody>
      </p:sp>
      <p:sp>
        <p:nvSpPr>
          <p:cNvPr id="17" name="diagram-bridge-detail">
            <a:extLst xmlns:a="http://schemas.openxmlformats.org/drawingml/2006/main">
              <a:ext uri="{FF2B5EF4-FFF2-40B4-BE49-F238E27FC236}">
                <a16:creationId xmlns:a16="http://schemas.microsoft.com/office/drawing/2014/main" id="{361D7167-7D34-4F34-A5A7-576D6FDAA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43150"/>
            <a:ext cx="1466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0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0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0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0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0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0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0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0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0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0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rPr>
              <a:t>目标轮速、状态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0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rPr>
              <a:t>故障与版本号</a:t>
            </a:r>
          </a:p>
        </p:txBody>
      </p:sp>
      <p:sp>
        <p:nvSpPr>
          <p:cNvPr id="18" name="diagram-mcu">
            <a:extLst xmlns:a="http://schemas.openxmlformats.org/drawingml/2006/main">
              <a:ext uri="{FF2B5EF4-FFF2-40B4-BE49-F238E27FC236}">
                <a16:creationId xmlns:a16="http://schemas.microsoft.com/office/drawing/2014/main" id="{602A348B-C128-48AD-A40B-A3576268F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47850"/>
            <a:ext cx="17335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4"/>
          </a:solidFill>
          <a:ln xmlns:a="http://schemas.openxmlformats.org/drawingml/2006/main" w="9525">
            <a:solidFill>
              <a:srgbClr val="C2E5DE"/>
            </a:solidFill>
            <a:prstDash val="solid"/>
          </a:ln>
        </p:spPr>
      </p:sp>
      <p:sp>
        <p:nvSpPr>
          <p:cNvPr id="19" name="diagram-mcu-top">
            <a:extLst xmlns:a="http://schemas.openxmlformats.org/drawingml/2006/main">
              <a:ext uri="{FF2B5EF4-FFF2-40B4-BE49-F238E27FC236}">
                <a16:creationId xmlns:a16="http://schemas.microsoft.com/office/drawing/2014/main" id="{83641CD6-10AF-40C0-B0FF-0F9FBA453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47850"/>
            <a:ext cx="1733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diagram-mcu-heading">
            <a:extLst xmlns:a="http://schemas.openxmlformats.org/drawingml/2006/main">
              <a:ext uri="{FF2B5EF4-FFF2-40B4-BE49-F238E27FC236}">
                <a16:creationId xmlns:a16="http://schemas.microsoft.com/office/drawing/2014/main" id="{E1C240A9-3F88-4635-AC57-5190D1337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097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STM32U585</a:t>
            </a:r>
          </a:p>
        </p:txBody>
      </p:sp>
      <p:sp>
        <p:nvSpPr>
          <p:cNvPr id="21" name="diagram-mcu-detail">
            <a:extLst xmlns:a="http://schemas.openxmlformats.org/drawingml/2006/main">
              <a:ext uri="{FF2B5EF4-FFF2-40B4-BE49-F238E27FC236}">
                <a16:creationId xmlns:a16="http://schemas.microsoft.com/office/drawing/2014/main" id="{2085F6F6-A3B9-44A8-80F1-449B26F8C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343150"/>
            <a:ext cx="1466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0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0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0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0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0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0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0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0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0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0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rPr>
              <a:t>实时 MCU：编码器采样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0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rPr>
              <a:t>轮速闭环与看门狗</a:t>
            </a:r>
          </a:p>
        </p:txBody>
      </p:sp>
      <p:sp>
        <p:nvSpPr>
          <p:cNvPr id="22" name="diagram-motor">
            <a:extLst xmlns:a="http://schemas.openxmlformats.org/drawingml/2006/main">
              <a:ext uri="{FF2B5EF4-FFF2-40B4-BE49-F238E27FC236}">
                <a16:creationId xmlns:a16="http://schemas.microsoft.com/office/drawing/2014/main" id="{0DF944F9-CC36-49D3-AB74-C8BF32E8E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847850"/>
            <a:ext cx="17335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CE4EE"/>
            </a:solidFill>
            <a:prstDash val="solid"/>
          </a:ln>
        </p:spPr>
      </p:sp>
      <p:sp>
        <p:nvSpPr>
          <p:cNvPr id="23" name="diagram-motor-top">
            <a:extLst xmlns:a="http://schemas.openxmlformats.org/drawingml/2006/main">
              <a:ext uri="{FF2B5EF4-FFF2-40B4-BE49-F238E27FC236}">
                <a16:creationId xmlns:a16="http://schemas.microsoft.com/office/drawing/2014/main" id="{6FCF10E3-B87D-473C-AD30-34FE4434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847850"/>
            <a:ext cx="1733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diagram-motor-heading">
            <a:extLst xmlns:a="http://schemas.openxmlformats.org/drawingml/2006/main">
              <a:ext uri="{FF2B5EF4-FFF2-40B4-BE49-F238E27FC236}">
                <a16:creationId xmlns:a16="http://schemas.microsoft.com/office/drawing/2014/main" id="{CF4F6550-54ED-4E83-BDC2-36AA4EBBB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0097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独立驱动器 + 电机</a:t>
            </a:r>
          </a:p>
        </p:txBody>
      </p:sp>
      <p:sp>
        <p:nvSpPr>
          <p:cNvPr id="25" name="diagram-motor-detail">
            <a:extLst xmlns:a="http://schemas.openxmlformats.org/drawingml/2006/main">
              <a:ext uri="{FF2B5EF4-FFF2-40B4-BE49-F238E27FC236}">
                <a16:creationId xmlns:a16="http://schemas.microsoft.com/office/drawing/2014/main" id="{D72DD808-E6CD-42CC-ACE6-437A0A016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43150"/>
            <a:ext cx="1466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0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0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0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0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0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0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0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0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0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0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rPr>
              <a:t>功率级不接 GPIO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0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rPr>
              <a:t>电池与急停独立</a:t>
            </a:r>
          </a:p>
        </p:txBody>
      </p:sp>
      <p:sp>
        <p:nvSpPr>
          <p:cNvPr id="30" name="state-return-line">
            <a:extLst xmlns:a="http://schemas.openxmlformats.org/drawingml/2006/main">
              <a:ext uri="{FF2B5EF4-FFF2-40B4-BE49-F238E27FC236}">
                <a16:creationId xmlns:a16="http://schemas.microsoft.com/office/drawing/2014/main" id="{6A2A6B95-269B-4F05-996F-A625B47E2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314700"/>
            <a:ext cx="81343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state-return-label">
            <a:extLst xmlns:a="http://schemas.openxmlformats.org/drawingml/2006/main">
              <a:ext uri="{FF2B5EF4-FFF2-40B4-BE49-F238E27FC236}">
                <a16:creationId xmlns:a16="http://schemas.microsoft.com/office/drawing/2014/main" id="{B0345225-44FF-4016-B65D-09F80D2A0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43250"/>
            <a:ext cx="415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97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97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97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97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97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97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97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97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97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7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编码器 / 电池 / 故障状态回传</a:t>
            </a:r>
          </a:p>
        </p:txBody>
      </p:sp>
      <p:sp>
        <p:nvSpPr>
          <p:cNvPr id="32" name="architecture-pros">
            <a:extLst xmlns:a="http://schemas.openxmlformats.org/drawingml/2006/main">
              <a:ext uri="{FF2B5EF4-FFF2-40B4-BE49-F238E27FC236}">
                <a16:creationId xmlns:a16="http://schemas.microsoft.com/office/drawing/2014/main" id="{D9AF0947-CD5A-46B1-87EC-D170BED2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5219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  <a:prstDash val="solid"/>
          </a:ln>
        </p:spPr>
      </p:sp>
      <p:sp>
        <p:nvSpPr>
          <p:cNvPr id="33" name="architecture-pros-accent">
            <a:extLst xmlns:a="http://schemas.openxmlformats.org/drawingml/2006/main">
              <a:ext uri="{FF2B5EF4-FFF2-40B4-BE49-F238E27FC236}">
                <a16:creationId xmlns:a16="http://schemas.microsoft.com/office/drawing/2014/main" id="{5C078111-ADAA-4FFD-94D1-282F5668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architecture-pros-title">
            <a:extLst xmlns:a="http://schemas.openxmlformats.org/drawingml/2006/main">
              <a:ext uri="{FF2B5EF4-FFF2-40B4-BE49-F238E27FC236}">
                <a16:creationId xmlns:a16="http://schemas.microsoft.com/office/drawing/2014/main" id="{C867C18D-A38B-4B3A-AB40-09B1C4FC3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48100"/>
            <a:ext cx="466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单板带来的直接收益</a:t>
            </a:r>
          </a:p>
        </p:txBody>
      </p:sp>
      <p:sp>
        <p:nvSpPr>
          <p:cNvPr id="35" name="architecture-pros-text">
            <a:extLst xmlns:a="http://schemas.openxmlformats.org/drawingml/2006/main">
              <a:ext uri="{FF2B5EF4-FFF2-40B4-BE49-F238E27FC236}">
                <a16:creationId xmlns:a16="http://schemas.microsoft.com/office/drawing/2014/main" id="{1E9EB5FF-D8C1-4718-88F8-8130C2AFD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71950"/>
            <a:ext cx="468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rPr>
              <a:t>单元内少一条跨板链路；ROS 与 MCU 共享板内 Bridge；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rPr>
              <a:t>每个移动单元可独立复制，MCU 不依赖 Linux 每周期响应。</a:t>
            </a:r>
          </a:p>
        </p:txBody>
      </p:sp>
      <p:sp>
        <p:nvSpPr>
          <p:cNvPr id="36" name="architecture-risks">
            <a:extLst xmlns:a="http://schemas.openxmlformats.org/drawingml/2006/main">
              <a:ext uri="{FF2B5EF4-FFF2-40B4-BE49-F238E27FC236}">
                <a16:creationId xmlns:a16="http://schemas.microsoft.com/office/drawing/2014/main" id="{68EFBAE6-401B-403E-87F0-52C80C008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76650"/>
            <a:ext cx="5219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F"/>
          </a:solidFill>
          <a:ln xmlns:a="http://schemas.openxmlformats.org/drawingml/2006/main" w="9525">
            <a:solidFill>
              <a:srgbClr val="F1D89A"/>
            </a:solidFill>
            <a:prstDash val="solid"/>
          </a:ln>
        </p:spPr>
      </p:sp>
      <p:sp>
        <p:nvSpPr>
          <p:cNvPr id="37" name="architecture-risks-accent">
            <a:extLst xmlns:a="http://schemas.openxmlformats.org/drawingml/2006/main">
              <a:ext uri="{FF2B5EF4-FFF2-40B4-BE49-F238E27FC236}">
                <a16:creationId xmlns:a16="http://schemas.microsoft.com/office/drawing/2014/main" id="{4868692C-5E0F-4C7C-A355-D3D19E6E1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7665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62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architecture-risks-title">
            <a:extLst xmlns:a="http://schemas.openxmlformats.org/drawingml/2006/main">
              <a:ext uri="{FF2B5EF4-FFF2-40B4-BE49-F238E27FC236}">
                <a16:creationId xmlns:a16="http://schemas.microsoft.com/office/drawing/2014/main" id="{5C2FD732-1C32-440E-96DC-3C0B7C1D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48100"/>
            <a:ext cx="466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必须实测的边界</a:t>
            </a:r>
          </a:p>
        </p:txBody>
      </p:sp>
      <p:sp>
        <p:nvSpPr>
          <p:cNvPr id="39" name="architecture-risks-text">
            <a:extLst xmlns:a="http://schemas.openxmlformats.org/drawingml/2006/main">
              <a:ext uri="{FF2B5EF4-FFF2-40B4-BE49-F238E27FC236}">
                <a16:creationId xmlns:a16="http://schemas.microsoft.com/office/drawing/2014/main" id="{F050E750-F6DF-499C-821E-A0A183B78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71950"/>
            <a:ext cx="468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A4A0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A4A0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A4A0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A4A0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A4A0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A4A0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A4A0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A4A0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A4A0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A4A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6A4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A4A00"/>
                </a:solidFill>
                <a:latin typeface="Microsoft YaHei"/>
                <a:ea typeface="Microsoft YaHei"/>
                <a:cs typeface="Microsoft YaHei"/>
              </a:rPr>
              <a:t>A53 算力与内存余量、具体传感器驱动、USB-C 扩展、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6A4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A4A00"/>
                </a:solidFill>
                <a:latin typeface="Microsoft YaHei"/>
                <a:ea typeface="Microsoft YaHei"/>
                <a:cs typeface="Microsoft YaHei"/>
              </a:rPr>
              <a:t>MPU 与 MCU 物理耦合、持续负载下的功耗与散热。</a:t>
            </a:r>
          </a:p>
        </p:txBody>
      </p:sp>
      <p:sp>
        <p:nvSpPr>
          <p:cNvPr id="40" name="architecture-safety">
            <a:extLst xmlns:a="http://schemas.openxmlformats.org/drawingml/2006/main">
              <a:ext uri="{FF2B5EF4-FFF2-40B4-BE49-F238E27FC236}">
                <a16:creationId xmlns:a16="http://schemas.microsoft.com/office/drawing/2014/main" id="{C2FF5513-9AF5-4749-895F-E495DE02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05400"/>
            <a:ext cx="1074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安全原则：上电默认不使能；命令超时由 MCU 本地判定；急停不依赖 Linux 或网络。</a:t>
            </a:r>
          </a:p>
        </p:txBody>
      </p:sp>
    </p:spTree>
    <p:extLst>
      <p:ext uri="{BB962C8B-B14F-4D97-AF65-F5344CB8AC3E}">
        <p14:creationId xmlns:p14="http://schemas.microsoft.com/office/powerpoint/2010/main" val="9580072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8D70CAA2-362C-4318-A7D0-A8A266A5D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47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DFE9FF7-0CA3-475C-ACEC-D9553F91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828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UNO Q 单板与树莓派双板</a:t>
            </a:r>
          </a:p>
        </p:txBody>
      </p:sp>
      <p:sp>
        <p:nvSpPr>
          <p:cNvPr id="3" name="section-tag">
            <a:extLst xmlns:a="http://schemas.openxmlformats.org/drawingml/2006/main">
              <a:ext uri="{FF2B5EF4-FFF2-40B4-BE49-F238E27FC236}">
                <a16:creationId xmlns:a16="http://schemas.microsoft.com/office/drawing/2014/main" id="{27C61C51-7237-409C-8D44-285B9FDD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1950"/>
            <a:ext cx="156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rPr>
              <a:t>02  UNO Q 路线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8F6FA98-989E-4DA6-A35E-F77EBE80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"/>
            <a:ext cx="10744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rPr>
              <a:t>单板优先用于减少系统复杂度；双板用于保留计算扩展，性能增益仍取决于任务与驱动。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B2EF5F8-B8E8-4B35-8DC7-F74E1D86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graphicFrame>
        <p:nvGraphicFramePr>
          <p:cNvPr id="6" name="architecture-comparison-table">
            <a:extLst xmlns:a="http://schemas.openxmlformats.org/drawingml/2006/main">
              <a:ext uri="{FF2B5EF4-FFF2-40B4-BE49-F238E27FC236}">
                <a16:creationId xmlns:a16="http://schemas.microsoft.com/office/drawing/2014/main" id="{83AEF16D-4AEC-40B6-9E11-C3D0E22A60FC}"/>
              </a:ext>
            </a:extLst>
          </p:cNvPr>
          <p:cNvGraphicFramePr/>
          <p:nvPr/>
        </p:nvGraphicFramePr>
        <p:xfrm>
          <a:off xmlns:a="http://schemas.openxmlformats.org/drawingml/2006/main" x="723900" y="1600200"/>
          <a:ext xmlns:a="http://schemas.openxmlformats.org/drawingml/2006/main" cx="107442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4171950"/>
                <a:gridCol w="5143500"/>
              </a:tblGrid>
              <a:tr h="612321">
                <a:tc>
                  <a:txBody>
                    <a:bodyPr wrap="square" lIns="95250" tIns="57150" rIns="95250" bIns="57150"/>
                    <a:lstStyle/>
                    <a:p>
                      <a:pPr algn="l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E"/>
                      </a:solidFill>
                      <a:prstDash val="solid"/>
                    </a:lnL>
                    <a:lnR w="9525">
                      <a:solidFill>
                        <a:srgbClr val="DCE4EE"/>
                      </a:solidFill>
                      <a:prstDash val="solid"/>
                    </a:lnR>
                    <a:lnT w="9525">
                      <a:solidFill>
                        <a:srgbClr val="DCE4EE"/>
                      </a:solidFill>
                      <a:prstDash val="solid"/>
                    </a:lnT>
                    <a:lnB w="9525">
                      <a:solidFill>
                        <a:srgbClr val="DCE4EE"/>
                      </a:solidFill>
                      <a:prstDash val="solid"/>
                    </a:lnB>
                    <a:solidFill>
                      <a:srgbClr val="0B1730"/>
                    </a:solidFill>
                  </a:tcPr>
                </a:tc>
                <a:tc>
                  <a:txBody>
                    <a:bodyPr wrap="square" lIns="95250" tIns="57150" rIns="95250" bIns="57150"/>
                    <a:lstStyle/>
                    <a:p>
                      <a:pPr algn="l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UNO Q 4GB 单板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E"/>
                      </a:solidFill>
                      <a:prstDash val="solid"/>
                    </a:lnR>
                    <a:lnT w="9525">
                      <a:solidFill>
                        <a:srgbClr val="DCE4EE"/>
                      </a:solidFill>
                      <a:prstDash val="solid"/>
                    </a:lnT>
                    <a:lnB w="9525">
                      <a:solidFill>
                        <a:srgbClr val="DCE4EE"/>
                      </a:solidFill>
                      <a:prstDash val="solid"/>
                    </a:lnB>
                    <a:solidFill>
                      <a:srgbClr val="0B1730"/>
                    </a:solidFill>
                  </a:tcPr>
                </a:tc>
                <a:tc>
                  <a:txBody>
                    <a:bodyPr wrap="square" lIns="95250" tIns="57150" rIns="95250" bIns="57150"/>
                    <a:lstStyle/>
                    <a:p>
                      <a:pPr algn="l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树莓派 5 8GB + UNO Q 4GB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E"/>
                      </a:solidFill>
                      <a:prstDash val="solid"/>
                    </a:lnR>
                    <a:lnT w="9525">
                      <a:solidFill>
                        <a:srgbClr val="DCE4EE"/>
                      </a:solidFill>
                      <a:prstDash val="solid"/>
                    </a:lnT>
                    <a:lnB w="9525">
                      <a:solidFill>
                        <a:srgbClr val="DCE4EE"/>
                      </a:solidFill>
                      <a:prstDash val="solid"/>
                    </a:lnB>
                    <a:solidFill>
                      <a:srgbClr val="0B1730"/>
                    </a:solidFill>
                  </a:tcPr>
                </a:tc>
              </a:tr>
              <a:tr h="612321">
                <a:tc>
                  <a:txBody>
                    <a:bodyPr wrap="square" lIns="95250" tIns="57150" rIns="95250" bIns="57150"/>
                    <a:lstStyle/>
                    <a:p>
                      <a:pPr algn="l"/>
                      <a:r>
                        <a:rPr sz="1088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上层资源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E"/>
                      </a:solidFill>
                      <a:prstDash val="solid"/>
                    </a:lnL>
                    <a:lnR w="9525">
                      <a:solidFill>
                        <a:srgbClr val="DCE4EE"/>
                      </a:solidFill>
                      <a:prstDash val="solid"/>
                    </a:lnR>
                    <a:lnB w="9525">
                      <a:solidFill>
                        <a:srgbClr val="DC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/>
                    <a:lstStyle/>
                    <a:p>
                      <a:pPr algn="l"/>
                      <a:r>
                        <a:rPr sz="1088" b="0">
                          <a:solidFill>
                            <a:srgbClr val="3D4A5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四核 A53、4GB 内存、32GB eMMC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E"/>
                      </a:solidFill>
                      <a:prstDash val="solid"/>
                    </a:lnR>
                    <a:lnB w="9525">
                      <a:solidFill>
                        <a:srgbClr val="DC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/>
                    <a:lstStyle/>
                    <a:p>
                      <a:pPr algn="l"/>
                      <a:r>
                        <a:rPr sz="1088" b="0">
                          <a:solidFill>
                            <a:srgbClr val="3D4A5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四核 A76、8GB 内存；UNO Q 内存保持独立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E"/>
                      </a:solidFill>
                      <a:prstDash val="solid"/>
                    </a:lnR>
                    <a:lnB w="9525">
                      <a:solidFill>
                        <a:srgbClr val="DC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2321">
                <a:tc>
                  <a:txBody>
                    <a:bodyPr wrap="square" lIns="95250" tIns="57150" rIns="95250" bIns="57150"/>
                    <a:lstStyle/>
                    <a:p>
                      <a:pPr algn="l"/>
                      <a:r>
                        <a:rPr sz="1088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外设与连接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E"/>
                      </a:solidFill>
                      <a:prstDash val="solid"/>
                    </a:lnL>
                    <a:lnR w="9525">
                      <a:solidFill>
                        <a:srgbClr val="DCE4EE"/>
                      </a:solidFill>
                      <a:prstDash val="solid"/>
                    </a:lnR>
                    <a:lnB w="9525">
                      <a:solidFill>
                        <a:srgbClr val="DCE4EE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 lIns="95250" tIns="57150" rIns="95250" bIns="57150"/>
                    <a:lstStyle/>
                    <a:p>
                      <a:pPr algn="l"/>
                      <a:r>
                        <a:rPr sz="1088" b="0">
                          <a:solidFill>
                            <a:srgbClr val="3D4A5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依赖 USB-C 扩展坞与兼容性验证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E"/>
                      </a:solidFill>
                      <a:prstDash val="solid"/>
                    </a:lnR>
                    <a:lnB w="9525">
                      <a:solidFill>
                        <a:srgbClr val="DCE4EE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 lIns="95250" tIns="57150" rIns="95250" bIns="57150"/>
                    <a:lstStyle/>
                    <a:p>
                      <a:pPr algn="l"/>
                      <a:r>
                        <a:rPr sz="1088" b="0">
                          <a:solidFill>
                            <a:srgbClr val="3D4A5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USB 和千兆以太网更充足，仍需驱动验证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E"/>
                      </a:solidFill>
                      <a:prstDash val="solid"/>
                    </a:lnR>
                    <a:lnB w="9525">
                      <a:solidFill>
                        <a:srgbClr val="DCE4EE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</a:tr>
              <a:tr h="612321">
                <a:tc>
                  <a:txBody>
                    <a:bodyPr wrap="square" lIns="95250" tIns="57150" rIns="95250" bIns="57150"/>
                    <a:lstStyle/>
                    <a:p>
                      <a:pPr algn="l"/>
                      <a:r>
                        <a:rPr sz="1088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系统收益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E"/>
                      </a:solidFill>
                      <a:prstDash val="solid"/>
                    </a:lnL>
                    <a:lnR w="9525">
                      <a:solidFill>
                        <a:srgbClr val="DCE4EE"/>
                      </a:solidFill>
                      <a:prstDash val="solid"/>
                    </a:lnR>
                    <a:lnB w="9525">
                      <a:solidFill>
                        <a:srgbClr val="DC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/>
                    <a:lstStyle/>
                    <a:p>
                      <a:pPr algn="l"/>
                      <a:r>
                        <a:rPr sz="1088" b="0">
                          <a:solidFill>
                            <a:srgbClr val="3D4A5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单元内链路少，部署与复制更集中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E"/>
                      </a:solidFill>
                      <a:prstDash val="solid"/>
                    </a:lnR>
                    <a:lnB w="9525">
                      <a:solidFill>
                        <a:srgbClr val="DC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/>
                    <a:lstStyle/>
                    <a:p>
                      <a:pPr algn="l"/>
                      <a:r>
                        <a:rPr sz="1088" b="0">
                          <a:solidFill>
                            <a:srgbClr val="3D4A5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上层算力余量更大，计算与底盘可分开升级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E"/>
                      </a:solidFill>
                      <a:prstDash val="solid"/>
                    </a:lnR>
                    <a:lnB w="9525">
                      <a:solidFill>
                        <a:srgbClr val="DC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2321">
                <a:tc>
                  <a:txBody>
                    <a:bodyPr wrap="square" lIns="95250" tIns="57150" rIns="95250" bIns="57150"/>
                    <a:lstStyle/>
                    <a:p>
                      <a:pPr algn="l"/>
                      <a:r>
                        <a:rPr sz="1088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主要缺点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E"/>
                      </a:solidFill>
                      <a:prstDash val="solid"/>
                    </a:lnL>
                    <a:lnR w="9525">
                      <a:solidFill>
                        <a:srgbClr val="DCE4EE"/>
                      </a:solidFill>
                      <a:prstDash val="solid"/>
                    </a:lnR>
                    <a:lnB w="9525">
                      <a:solidFill>
                        <a:srgbClr val="DCE4EE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 lIns="95250" tIns="57150" rIns="95250" bIns="57150"/>
                    <a:lstStyle/>
                    <a:p>
                      <a:pPr algn="l"/>
                      <a:r>
                        <a:rPr sz="1088" b="0">
                          <a:solidFill>
                            <a:srgbClr val="3D4A5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算力余量、传感器适配、USB 扩展与计算/控制耦合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E"/>
                      </a:solidFill>
                      <a:prstDash val="solid"/>
                    </a:lnR>
                    <a:lnB w="9525">
                      <a:solidFill>
                        <a:srgbClr val="DCE4EE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 lIns="95250" tIns="57150" rIns="95250" bIns="57150"/>
                    <a:lstStyle/>
                    <a:p>
                      <a:pPr algn="l"/>
                      <a:r>
                        <a:rPr sz="1088" b="0">
                          <a:solidFill>
                            <a:srgbClr val="3D4A5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多一套系统；网络、供电、启动顺序、同步和运维增加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E"/>
                      </a:solidFill>
                      <a:prstDash val="solid"/>
                    </a:lnR>
                    <a:lnB w="9525">
                      <a:solidFill>
                        <a:srgbClr val="DCE4EE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</a:tr>
              <a:tr h="612321">
                <a:tc>
                  <a:txBody>
                    <a:bodyPr wrap="square" lIns="95250" tIns="57150" rIns="95250" bIns="57150"/>
                    <a:lstStyle/>
                    <a:p>
                      <a:pPr algn="l"/>
                      <a:r>
                        <a:rPr sz="1088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迁移影响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E"/>
                      </a:solidFill>
                      <a:prstDash val="solid"/>
                    </a:lnL>
                    <a:lnR w="9525">
                      <a:solidFill>
                        <a:srgbClr val="DCE4EE"/>
                      </a:solidFill>
                      <a:prstDash val="solid"/>
                    </a:lnR>
                    <a:lnB w="9525">
                      <a:solidFill>
                        <a:srgbClr val="DC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/>
                    <a:lstStyle/>
                    <a:p>
                      <a:pPr algn="l"/>
                      <a:r>
                        <a:rPr sz="1088" b="0">
                          <a:solidFill>
                            <a:srgbClr val="3D4A5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更换整板会同时影响上层与 MCU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E"/>
                      </a:solidFill>
                      <a:prstDash val="solid"/>
                    </a:lnR>
                    <a:lnB w="9525">
                      <a:solidFill>
                        <a:srgbClr val="DC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/>
                    <a:lstStyle/>
                    <a:p>
                      <a:pPr algn="l"/>
                      <a:r>
                        <a:rPr sz="1088" b="0">
                          <a:solidFill>
                            <a:srgbClr val="3D4A5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上层节点可迁移，但底盘网关和 Bridge 仍留在 UNO Q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E"/>
                      </a:solidFill>
                      <a:prstDash val="solid"/>
                    </a:lnR>
                    <a:lnB w="9525">
                      <a:solidFill>
                        <a:srgbClr val="DC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2321">
                <a:tc>
                  <a:txBody>
                    <a:bodyPr wrap="square" lIns="95250" tIns="57150" rIns="95250" bIns="57150"/>
                    <a:lstStyle/>
                    <a:p>
                      <a:pPr algn="l"/>
                      <a:r>
                        <a:rPr sz="1088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采用条件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E"/>
                      </a:solidFill>
                      <a:prstDash val="solid"/>
                    </a:lnL>
                    <a:lnR w="9525">
                      <a:solidFill>
                        <a:srgbClr val="DCE4EE"/>
                      </a:solidFill>
                      <a:prstDash val="solid"/>
                    </a:lnR>
                    <a:lnB w="9525">
                      <a:solidFill>
                        <a:srgbClr val="DCE4EE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 lIns="95250" tIns="57150" rIns="95250" bIns="57150"/>
                    <a:lstStyle/>
                    <a:p>
                      <a:pPr algn="l"/>
                      <a:r>
                        <a:rPr sz="1088" b="0">
                          <a:solidFill>
                            <a:srgbClr val="3D4A5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真实并发测试满足指标，先继续单板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E"/>
                      </a:solidFill>
                      <a:prstDash val="solid"/>
                    </a:lnR>
                    <a:lnB w="9525">
                      <a:solidFill>
                        <a:srgbClr val="DCE4EE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 lIns="95250" tIns="57150" rIns="95250" bIns="57150"/>
                    <a:lstStyle/>
                    <a:p>
                      <a:pPr algn="l"/>
                      <a:r>
                        <a:rPr sz="1088" b="0">
                          <a:solidFill>
                            <a:srgbClr val="3D4A5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有限优化后关键任务持续不达标，或驱动无法解决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E"/>
                      </a:solidFill>
                      <a:prstDash val="solid"/>
                    </a:lnR>
                    <a:lnB w="9525">
                      <a:solidFill>
                        <a:srgbClr val="DCE4EE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7" name="compare-decision">
            <a:extLst xmlns:a="http://schemas.openxmlformats.org/drawingml/2006/main">
              <a:ext uri="{FF2B5EF4-FFF2-40B4-BE49-F238E27FC236}">
                <a16:creationId xmlns:a16="http://schemas.microsoft.com/office/drawing/2014/main" id="{6BD94658-9A75-422C-909F-2529C35C0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38850"/>
            <a:ext cx="1074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5398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1">
                <a:solidFill>
                  <a:srgbClr val="15398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1">
                <a:solidFill>
                  <a:srgbClr val="15398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1">
                <a:solidFill>
                  <a:srgbClr val="15398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1">
                <a:solidFill>
                  <a:srgbClr val="15398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1">
                <a:solidFill>
                  <a:srgbClr val="15398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1">
                <a:solidFill>
                  <a:srgbClr val="15398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1">
                <a:solidFill>
                  <a:srgbClr val="15398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1">
                <a:solidFill>
                  <a:srgbClr val="15398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1">
                <a:solidFill>
                  <a:srgbClr val="15398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539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398F"/>
                </a:solidFill>
                <a:latin typeface="Microsoft YaHei"/>
                <a:ea typeface="Microsoft YaHei"/>
                <a:cs typeface="Microsoft YaHei"/>
              </a:rPr>
              <a:t>内部决策证据：至少完成一次“底盘 + 两类传感器 + 建图/定位 + 轻量检测”的并发测试；先做 30 分钟，再尝试 2 小时。</a:t>
            </a:r>
          </a:p>
        </p:txBody>
      </p:sp>
    </p:spTree>
    <p:extLst>
      <p:ext uri="{BB962C8B-B14F-4D97-AF65-F5344CB8AC3E}">
        <p14:creationId xmlns:p14="http://schemas.microsoft.com/office/powerpoint/2010/main" val="5894380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6830C21A-AE93-4463-A5D6-945BA7E4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47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443C6D-48BD-4BCC-BCAB-9106DAEE5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828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前期工作与近期验证</a:t>
            </a:r>
          </a:p>
        </p:txBody>
      </p:sp>
      <p:sp>
        <p:nvSpPr>
          <p:cNvPr id="3" name="section-tag">
            <a:extLst xmlns:a="http://schemas.openxmlformats.org/drawingml/2006/main">
              <a:ext uri="{FF2B5EF4-FFF2-40B4-BE49-F238E27FC236}">
                <a16:creationId xmlns:a16="http://schemas.microsoft.com/office/drawing/2014/main" id="{30A47ED9-9DA0-4038-B410-1692EEAC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1950"/>
            <a:ext cx="156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rPr>
              <a:t>02  UNO Q 路线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456CC48-5E1E-408D-983D-38E3B431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"/>
            <a:ext cx="10744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rPr>
              <a:t>板卡未到前先完成环境、接口、台架和软件骨架；到板后按证据推进，不用演示程序代替整机测试。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EB9F500-BE4B-4DFE-961C-8F4BB13A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6" name="progress-state">
            <a:extLst xmlns:a="http://schemas.openxmlformats.org/drawingml/2006/main">
              <a:ext uri="{FF2B5EF4-FFF2-40B4-BE49-F238E27FC236}">
                <a16:creationId xmlns:a16="http://schemas.microsoft.com/office/drawing/2014/main" id="{F219F8CE-DD0D-4E05-BD06-81FDA9AE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51816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  <a:prstDash val="solid"/>
          </a:ln>
        </p:spPr>
      </p:sp>
      <p:sp>
        <p:nvSpPr>
          <p:cNvPr id="7" name="progress-state-accent">
            <a:extLst xmlns:a="http://schemas.openxmlformats.org/drawingml/2006/main">
              <a:ext uri="{FF2B5EF4-FFF2-40B4-BE49-F238E27FC236}">
                <a16:creationId xmlns:a16="http://schemas.microsoft.com/office/drawing/2014/main" id="{C841756D-5F30-42F1-A793-921FEAB4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47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rogress-state-title">
            <a:extLst xmlns:a="http://schemas.openxmlformats.org/drawingml/2006/main">
              <a:ext uri="{FF2B5EF4-FFF2-40B4-BE49-F238E27FC236}">
                <a16:creationId xmlns:a16="http://schemas.microsoft.com/office/drawing/2014/main" id="{49E2B77A-1B57-4DD8-B5AD-3A38A4FF0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907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当前状态</a:t>
            </a:r>
          </a:p>
        </p:txBody>
      </p:sp>
      <p:sp>
        <p:nvSpPr>
          <p:cNvPr id="9" name="progress-state-text">
            <a:extLst xmlns:a="http://schemas.openxmlformats.org/drawingml/2006/main">
              <a:ext uri="{FF2B5EF4-FFF2-40B4-BE49-F238E27FC236}">
                <a16:creationId xmlns:a16="http://schemas.microsoft.com/office/drawing/2014/main" id="{2A4FA492-A35D-4BAA-B281-7F4AD6477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52650"/>
            <a:ext cx="45910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63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63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63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63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63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63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63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63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63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63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26000"/>
              </a:lnSpc>
              <a:buNone/>
              <a:defRPr sz="1163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rPr>
              <a:t>技术路线、市场调研与 UNO_Q 可行性报告已完成。</a:t>
            </a:r>
          </a:p>
          <a:p xmlns:a="http://schemas.openxmlformats.org/drawingml/2006/main">
            <a:pPr algn="l">
              <a:lnSpc>
                <a:spcPct val="126000"/>
              </a:lnSpc>
              <a:buNone/>
              <a:defRPr sz="1163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rPr>
              <a:t>采购清单收敛为 2 块 UNO Q 4GB；板卡尚未到。</a:t>
            </a:r>
          </a:p>
          <a:p xmlns:a="http://schemas.openxmlformats.org/drawingml/2006/main">
            <a:pPr algn="l">
              <a:lnSpc>
                <a:spcPct val="126000"/>
              </a:lnSpc>
              <a:buNone/>
              <a:defRPr sz="1163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rPr>
              <a:t>Windows 已安装 Arduino App Lab 0.10.0，等待 USB 连接。</a:t>
            </a:r>
          </a:p>
          <a:p xmlns:a="http://schemas.openxmlformats.org/drawingml/2006/main">
            <a:pPr algn="l">
              <a:lnSpc>
                <a:spcPct val="126000"/>
              </a:lnSpc>
              <a:buNone/>
              <a:defRPr sz="1163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rPr>
              <a:t>本地 Git 仓库已初始化；首次提交与 README 待完善。</a:t>
            </a:r>
          </a:p>
        </p:txBody>
      </p:sp>
      <p:sp>
        <p:nvSpPr>
          <p:cNvPr id="10" name="progress-prep">
            <a:extLst xmlns:a="http://schemas.openxmlformats.org/drawingml/2006/main">
              <a:ext uri="{FF2B5EF4-FFF2-40B4-BE49-F238E27FC236}">
                <a16:creationId xmlns:a16="http://schemas.microsoft.com/office/drawing/2014/main" id="{5E67C87C-87E4-4CDA-AE3A-60B455D0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00200"/>
            <a:ext cx="52197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E"/>
            </a:solidFill>
            <a:prstDash val="solid"/>
          </a:ln>
        </p:spPr>
      </p:sp>
      <p:sp>
        <p:nvSpPr>
          <p:cNvPr id="11" name="progress-prep-accent">
            <a:extLst xmlns:a="http://schemas.openxmlformats.org/drawingml/2006/main">
              <a:ext uri="{FF2B5EF4-FFF2-40B4-BE49-F238E27FC236}">
                <a16:creationId xmlns:a16="http://schemas.microsoft.com/office/drawing/2014/main" id="{334043D0-81DC-4313-8059-468AA87A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00200"/>
            <a:ext cx="47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ogress-prep-title">
            <a:extLst xmlns:a="http://schemas.openxmlformats.org/drawingml/2006/main">
              <a:ext uri="{FF2B5EF4-FFF2-40B4-BE49-F238E27FC236}">
                <a16:creationId xmlns:a16="http://schemas.microsoft.com/office/drawing/2014/main" id="{D5AFD8B6-DAAF-4577-B03B-BA93B4B06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79070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到板前可完成</a:t>
            </a:r>
          </a:p>
        </p:txBody>
      </p:sp>
      <p:sp>
        <p:nvSpPr>
          <p:cNvPr id="13" name="progress-prep-text">
            <a:extLst xmlns:a="http://schemas.openxmlformats.org/drawingml/2006/main">
              <a:ext uri="{FF2B5EF4-FFF2-40B4-BE49-F238E27FC236}">
                <a16:creationId xmlns:a16="http://schemas.microsoft.com/office/drawing/2014/main" id="{15FEA1DD-ECE7-4BB6-899A-3C72E1DF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52650"/>
            <a:ext cx="46291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163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63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63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63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63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63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63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63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63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63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26000"/>
              </a:lnSpc>
              <a:buNone/>
              <a:defRPr sz="1163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rPr>
              <a:t>固定 Windows-hosted 开发流程与版本清单。</a:t>
            </a:r>
          </a:p>
          <a:p xmlns:a="http://schemas.openxmlformats.org/drawingml/2006/main">
            <a:pPr algn="l">
              <a:lnSpc>
                <a:spcPct val="126000"/>
              </a:lnSpc>
              <a:buNone/>
              <a:defRPr sz="1163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rPr>
              <a:t>完成电机、编码器、驱动器和电源接口表。</a:t>
            </a:r>
          </a:p>
          <a:p xmlns:a="http://schemas.openxmlformats.org/drawingml/2006/main">
            <a:pPr algn="l">
              <a:lnSpc>
                <a:spcPct val="126000"/>
              </a:lnSpc>
              <a:buNone/>
              <a:defRPr sz="1163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rPr>
              <a:t>设计架空电机台架与双轮差速底盘 V1。</a:t>
            </a:r>
          </a:p>
          <a:p xmlns:a="http://schemas.openxmlformats.org/drawingml/2006/main">
            <a:pPr algn="l">
              <a:lnSpc>
                <a:spcPct val="126000"/>
              </a:lnSpc>
              <a:buNone/>
              <a:defRPr sz="1163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rPr>
              <a:t>建立 ROS 2 消息、launch、单元命名与测试记录骨架。</a:t>
            </a:r>
          </a:p>
        </p:txBody>
      </p:sp>
      <p:sp>
        <p:nvSpPr>
          <p:cNvPr id="14" name="timeline-title">
            <a:extLst xmlns:a="http://schemas.openxmlformats.org/drawingml/2006/main">
              <a:ext uri="{FF2B5EF4-FFF2-40B4-BE49-F238E27FC236}">
                <a16:creationId xmlns:a16="http://schemas.microsoft.com/office/drawing/2014/main" id="{86E849CC-B1A7-48F6-BEB5-22DC535CB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三周验证窗口（以到板日为 T0）</a:t>
            </a:r>
          </a:p>
        </p:txBody>
      </p:sp>
      <p:sp>
        <p:nvSpPr>
          <p:cNvPr id="15" name="timeline-line">
            <a:extLst xmlns:a="http://schemas.openxmlformats.org/drawingml/2006/main">
              <a:ext uri="{FF2B5EF4-FFF2-40B4-BE49-F238E27FC236}">
                <a16:creationId xmlns:a16="http://schemas.microsoft.com/office/drawing/2014/main" id="{D840E338-81EB-4D4B-A39D-90FCA1441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9585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2C07CD96-77D3-4A76-9EAF-518EFD374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19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7" name="timeline-label-0">
            <a:extLst xmlns:a="http://schemas.openxmlformats.org/drawingml/2006/main">
              <a:ext uri="{FF2B5EF4-FFF2-40B4-BE49-F238E27FC236}">
                <a16:creationId xmlns:a16="http://schemas.microsoft.com/office/drawing/2014/main" id="{1F6FBDC4-7085-4815-A81D-E950A9B2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767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第 1 周</a:t>
            </a:r>
          </a:p>
        </p:txBody>
      </p:sp>
      <p:sp>
        <p:nvSpPr>
          <p:cNvPr id="18" name="timeline-title-0">
            <a:extLst xmlns:a="http://schemas.openxmlformats.org/drawingml/2006/main">
              <a:ext uri="{FF2B5EF4-FFF2-40B4-BE49-F238E27FC236}">
                <a16:creationId xmlns:a16="http://schemas.microsoft.com/office/drawing/2014/main" id="{B5DC1F97-4D29-4274-9191-591426FD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244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环境与最小链路</a:t>
            </a:r>
          </a:p>
        </p:txBody>
      </p:sp>
      <p:sp>
        <p:nvSpPr>
          <p:cNvPr id="19" name="timeline-body-0">
            <a:extLst xmlns:a="http://schemas.openxmlformats.org/drawingml/2006/main">
              <a:ext uri="{FF2B5EF4-FFF2-40B4-BE49-F238E27FC236}">
                <a16:creationId xmlns:a16="http://schemas.microsoft.com/office/drawing/2014/main" id="{6F6D51C0-8198-43C4-BE58-B14DFA5B7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2925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88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88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88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88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88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88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88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88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88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88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88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rPr>
              <a:t>环境固定、供电检查、MPU-MCU 双向 RPC、台架接口</a:t>
            </a:r>
          </a:p>
        </p:txBody>
      </p:sp>
      <p:sp>
        <p:nvSpPr>
          <p:cNvPr id="20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6D284EBE-78BA-4BD3-9700-490E9DAD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819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timeline-label-1">
            <a:extLst xmlns:a="http://schemas.openxmlformats.org/drawingml/2006/main">
              <a:ext uri="{FF2B5EF4-FFF2-40B4-BE49-F238E27FC236}">
                <a16:creationId xmlns:a16="http://schemas.microsoft.com/office/drawing/2014/main" id="{0E01FD6D-E8C6-41EF-8FEB-49D1F2C8F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4767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第 2 周</a:t>
            </a:r>
          </a:p>
        </p:txBody>
      </p:sp>
      <p:sp>
        <p:nvSpPr>
          <p:cNvPr id="22" name="timeline-title-1">
            <a:extLst xmlns:a="http://schemas.openxmlformats.org/drawingml/2006/main">
              <a:ext uri="{FF2B5EF4-FFF2-40B4-BE49-F238E27FC236}">
                <a16:creationId xmlns:a16="http://schemas.microsoft.com/office/drawing/2014/main" id="{ADDFACDC-9459-4209-83D5-A42D7D897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1244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底盘与传感器</a:t>
            </a:r>
          </a:p>
        </p:txBody>
      </p:sp>
      <p:sp>
        <p:nvSpPr>
          <p:cNvPr id="23" name="timeline-body-1">
            <a:extLst xmlns:a="http://schemas.openxmlformats.org/drawingml/2006/main">
              <a:ext uri="{FF2B5EF4-FFF2-40B4-BE49-F238E27FC236}">
                <a16:creationId xmlns:a16="http://schemas.microsoft.com/office/drawing/2014/main" id="{88A21C87-D822-43CC-92D6-8BB4F4B5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42925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88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88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88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88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88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88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88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88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88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88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88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rPr>
              <a:t>轮速闭环、ROS 网关/里程计、LiDAR 与相机分别验证</a:t>
            </a:r>
          </a:p>
        </p:txBody>
      </p:sp>
      <p:sp>
        <p:nvSpPr>
          <p:cNvPr id="24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AEF9C13C-1DAE-4DDC-9CF9-18EC492A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819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timeline-label-2">
            <a:extLst xmlns:a="http://schemas.openxmlformats.org/drawingml/2006/main">
              <a:ext uri="{FF2B5EF4-FFF2-40B4-BE49-F238E27FC236}">
                <a16:creationId xmlns:a16="http://schemas.microsoft.com/office/drawing/2014/main" id="{BE3CD3DB-D276-4207-9600-A245BDEF0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4767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第 3 周</a:t>
            </a:r>
          </a:p>
        </p:txBody>
      </p:sp>
      <p:sp>
        <p:nvSpPr>
          <p:cNvPr id="26" name="timeline-title-2">
            <a:extLst xmlns:a="http://schemas.openxmlformats.org/drawingml/2006/main">
              <a:ext uri="{FF2B5EF4-FFF2-40B4-BE49-F238E27FC236}">
                <a16:creationId xmlns:a16="http://schemas.microsoft.com/office/drawing/2014/main" id="{CD3ACD68-3B61-4532-BC58-10EAA73CD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1244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并发与架构决定</a:t>
            </a:r>
          </a:p>
        </p:txBody>
      </p:sp>
      <p:sp>
        <p:nvSpPr>
          <p:cNvPr id="27" name="timeline-body-2">
            <a:extLst xmlns:a="http://schemas.openxmlformats.org/drawingml/2006/main">
              <a:ext uri="{FF2B5EF4-FFF2-40B4-BE49-F238E27FC236}">
                <a16:creationId xmlns:a16="http://schemas.microsoft.com/office/drawing/2014/main" id="{BFDD409A-F21F-4EE7-95C6-59627F6B0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42925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088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88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88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88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88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88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88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88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88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88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88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rPr>
              <a:t>并发负载、失联保护、树莓派演练、单板或双板决策</a:t>
            </a:r>
          </a:p>
        </p:txBody>
      </p:sp>
    </p:spTree>
    <p:extLst>
      <p:ext uri="{BB962C8B-B14F-4D97-AF65-F5344CB8AC3E}">
        <p14:creationId xmlns:p14="http://schemas.microsoft.com/office/powerpoint/2010/main" val="19496621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44F7C28F-0EB3-4553-9217-87459F814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47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B1E382A-600C-4D7A-98DC-9856F2E86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"/>
            <a:ext cx="828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组会需要确认的问题</a:t>
            </a:r>
          </a:p>
        </p:txBody>
      </p:sp>
      <p:sp>
        <p:nvSpPr>
          <p:cNvPr id="3" name="section-tag">
            <a:extLst xmlns:a="http://schemas.openxmlformats.org/drawingml/2006/main">
              <a:ext uri="{FF2B5EF4-FFF2-40B4-BE49-F238E27FC236}">
                <a16:creationId xmlns:a16="http://schemas.microsoft.com/office/drawing/2014/main" id="{08EE64F8-EECF-4818-AC55-E41E684C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1950"/>
            <a:ext cx="156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B8BA1"/>
                </a:solidFill>
                <a:latin typeface="Microsoft YaHei"/>
                <a:ea typeface="Microsoft YaHei"/>
                <a:cs typeface="Microsoft YaHei"/>
              </a:rPr>
              <a:t>决策事项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D1FEC44-FB82-4656-A14E-BA4A9771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"/>
            <a:ext cx="10744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D4A5C"/>
                </a:solidFill>
                <a:latin typeface="Microsoft YaHei"/>
                <a:ea typeface="Microsoft YaHei"/>
                <a:cs typeface="Microsoft YaHei"/>
              </a:rPr>
              <a:t>这些问题会直接改变验收表述、模块边界和后续两到三周的资源安排。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7915586-D1DB-430F-B107-09F48EC27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r">
              <a:def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B7A8D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graphicFrame>
        <p:nvGraphicFramePr>
          <p:cNvPr id="6" name="questions-table">
            <a:extLst xmlns:a="http://schemas.openxmlformats.org/drawingml/2006/main">
              <a:ext uri="{FF2B5EF4-FFF2-40B4-BE49-F238E27FC236}">
                <a16:creationId xmlns:a16="http://schemas.microsoft.com/office/drawing/2014/main" id="{E9A9C634-84C0-4AD4-BEF0-F7FB27AD1C1C}"/>
              </a:ext>
            </a:extLst>
          </p:cNvPr>
          <p:cNvGraphicFramePr/>
          <p:nvPr/>
        </p:nvGraphicFramePr>
        <p:xfrm>
          <a:off xmlns:a="http://schemas.openxmlformats.org/drawingml/2006/main" x="723900" y="1657350"/>
          <a:ext xmlns:a="http://schemas.openxmlformats.org/drawingml/2006/main" cx="107442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85800"/>
                <a:gridCol w="2762250"/>
                <a:gridCol w="7296150"/>
              </a:tblGrid>
              <a:tr h="800100">
                <a:tc>
                  <a:txBody>
                    <a:bodyPr wrap="square" lIns="95250" tIns="57150" rIns="95250" bIns="57150"/>
                    <a:lstStyle/>
                    <a:p>
                      <a:pPr algn="l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序号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E"/>
                      </a:solidFill>
                      <a:prstDash val="solid"/>
                    </a:lnL>
                    <a:lnR w="9525">
                      <a:solidFill>
                        <a:srgbClr val="DCE4EE"/>
                      </a:solidFill>
                      <a:prstDash val="solid"/>
                    </a:lnR>
                    <a:lnT w="9525">
                      <a:solidFill>
                        <a:srgbClr val="DCE4EE"/>
                      </a:solidFill>
                      <a:prstDash val="solid"/>
                    </a:lnT>
                    <a:lnB w="9525">
                      <a:solidFill>
                        <a:srgbClr val="DCE4EE"/>
                      </a:solidFill>
                      <a:prstDash val="solid"/>
                    </a:lnB>
                    <a:solidFill>
                      <a:srgbClr val="0B1730"/>
                    </a:solidFill>
                  </a:tcPr>
                </a:tc>
                <a:tc>
                  <a:txBody>
                    <a:bodyPr wrap="square" lIns="95250" tIns="57150" rIns="95250" bIns="57150"/>
                    <a:lstStyle/>
                    <a:p>
                      <a:pPr algn="l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确认事项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E"/>
                      </a:solidFill>
                      <a:prstDash val="solid"/>
                    </a:lnR>
                    <a:lnT w="9525">
                      <a:solidFill>
                        <a:srgbClr val="DCE4EE"/>
                      </a:solidFill>
                      <a:prstDash val="solid"/>
                    </a:lnT>
                    <a:lnB w="9525">
                      <a:solidFill>
                        <a:srgbClr val="DCE4EE"/>
                      </a:solidFill>
                      <a:prstDash val="solid"/>
                    </a:lnB>
                    <a:solidFill>
                      <a:srgbClr val="0B1730"/>
                    </a:solidFill>
                  </a:tcPr>
                </a:tc>
                <a:tc>
                  <a:txBody>
                    <a:bodyPr wrap="square" lIns="95250" tIns="57150" rIns="95250" bIns="57150"/>
                    <a:lstStyle/>
                    <a:p>
                      <a:pPr algn="l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需要导师明确的边界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E"/>
                      </a:solidFill>
                      <a:prstDash val="solid"/>
                    </a:lnR>
                    <a:lnT w="9525">
                      <a:solidFill>
                        <a:srgbClr val="DCE4EE"/>
                      </a:solidFill>
                      <a:prstDash val="solid"/>
                    </a:lnT>
                    <a:lnB w="9525">
                      <a:solidFill>
                        <a:srgbClr val="DCE4EE"/>
                      </a:solidFill>
                      <a:prstDash val="solid"/>
                    </a:lnB>
                    <a:solidFill>
                      <a:srgbClr val="0B1730"/>
                    </a:solidFill>
                  </a:tcPr>
                </a:tc>
              </a:tr>
              <a:tr h="800100">
                <a:tc>
                  <a:txBody>
                    <a:bodyPr wrap="square" lIns="95250" tIns="57150" rIns="95250" bIns="57150"/>
                    <a:lstStyle/>
                    <a:p>
                      <a:pPr algn="l"/>
                      <a:r>
                        <a:rPr sz="1163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E"/>
                      </a:solidFill>
                      <a:prstDash val="solid"/>
                    </a:lnL>
                    <a:lnR w="9525">
                      <a:solidFill>
                        <a:srgbClr val="DCE4EE"/>
                      </a:solidFill>
                      <a:prstDash val="solid"/>
                    </a:lnR>
                    <a:lnB w="9525">
                      <a:solidFill>
                        <a:srgbClr val="DC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/>
                    <a:lstStyle/>
                    <a:p>
                      <a:pPr algn="l"/>
                      <a:r>
                        <a:rPr sz="1163" b="0">
                          <a:solidFill>
                            <a:srgbClr val="3D4A5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底盘扩展层级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E"/>
                      </a:solidFill>
                      <a:prstDash val="solid"/>
                    </a:lnR>
                    <a:lnB w="9525">
                      <a:solidFill>
                        <a:srgbClr val="DC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/>
                    <a:lstStyle/>
                    <a:p>
                      <a:pPr algn="l"/>
                      <a:r>
                        <a:rPr sz="1163" b="0">
                          <a:solidFill>
                            <a:srgbClr val="3D4A5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主动关节/轮腿是否只作为核心完成后的扩展？跳跃是否仍需纳入本项目验收？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E"/>
                      </a:solidFill>
                      <a:prstDash val="solid"/>
                    </a:lnR>
                    <a:lnB w="9525">
                      <a:solidFill>
                        <a:srgbClr val="DC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wrap="square" lIns="95250" tIns="57150" rIns="95250" bIns="57150"/>
                    <a:lstStyle/>
                    <a:p>
                      <a:pPr algn="l"/>
                      <a:r>
                        <a:rPr sz="1163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E"/>
                      </a:solidFill>
                      <a:prstDash val="solid"/>
                    </a:lnL>
                    <a:lnR w="9525">
                      <a:solidFill>
                        <a:srgbClr val="DCE4EE"/>
                      </a:solidFill>
                      <a:prstDash val="solid"/>
                    </a:lnR>
                    <a:lnB w="9525">
                      <a:solidFill>
                        <a:srgbClr val="DCE4EE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 lIns="95250" tIns="57150" rIns="95250" bIns="57150"/>
                    <a:lstStyle/>
                    <a:p>
                      <a:pPr algn="l"/>
                      <a:r>
                        <a:rPr sz="1163" b="0">
                          <a:solidFill>
                            <a:srgbClr val="3D4A5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UNO Q 与 CA1 表述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E"/>
                      </a:solidFill>
                      <a:prstDash val="solid"/>
                    </a:lnR>
                    <a:lnB w="9525">
                      <a:solidFill>
                        <a:srgbClr val="DCE4EE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 lIns="95250" tIns="57150" rIns="95250" bIns="57150"/>
                    <a:lstStyle/>
                    <a:p>
                      <a:pPr algn="l"/>
                      <a:r>
                        <a:rPr sz="1163" b="0">
                          <a:solidFill>
                            <a:srgbClr val="3D4A5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若取消树莓派，CA1 中“UNO Q 与树莓派通信”能否改为“UNO Q 的 MPU-MCU 通信与电机闭环验证”？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E"/>
                      </a:solidFill>
                      <a:prstDash val="solid"/>
                    </a:lnR>
                    <a:lnB w="9525">
                      <a:solidFill>
                        <a:srgbClr val="DCE4EE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</a:tr>
              <a:tr h="800100">
                <a:tc>
                  <a:txBody>
                    <a:bodyPr wrap="square" lIns="95250" tIns="57150" rIns="95250" bIns="57150"/>
                    <a:lstStyle/>
                    <a:p>
                      <a:pPr algn="l"/>
                      <a:r>
                        <a:rPr sz="1163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E"/>
                      </a:solidFill>
                      <a:prstDash val="solid"/>
                    </a:lnL>
                    <a:lnR w="9525">
                      <a:solidFill>
                        <a:srgbClr val="DCE4EE"/>
                      </a:solidFill>
                      <a:prstDash val="solid"/>
                    </a:lnR>
                    <a:lnB w="9525">
                      <a:solidFill>
                        <a:srgbClr val="DC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/>
                    <a:lstStyle/>
                    <a:p>
                      <a:pPr algn="l"/>
                      <a:r>
                        <a:rPr sz="1163" b="0">
                          <a:solidFill>
                            <a:srgbClr val="3D4A5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 Edge-AI 模块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E"/>
                      </a:solidFill>
                      <a:prstDash val="solid"/>
                    </a:lnR>
                    <a:lnB w="9525">
                      <a:solidFill>
                        <a:srgbClr val="DC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/>
                    <a:lstStyle/>
                    <a:p>
                      <a:pPr algn="l"/>
                      <a:r>
                        <a:rPr sz="1163" b="0">
                          <a:solidFill>
                            <a:srgbClr val="3D4A5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“独立”要求可拆装硬件，还是独立部署的软件与节点？LiDAR + 深度相机算一个还是两个模块？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E"/>
                      </a:solidFill>
                      <a:prstDash val="solid"/>
                    </a:lnR>
                    <a:lnB w="9525">
                      <a:solidFill>
                        <a:srgbClr val="DCE4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wrap="square" lIns="95250" tIns="57150" rIns="95250" bIns="57150"/>
                    <a:lstStyle/>
                    <a:p>
                      <a:pPr algn="l"/>
                      <a:r>
                        <a:rPr sz="1163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E"/>
                      </a:solidFill>
                      <a:prstDash val="solid"/>
                    </a:lnL>
                    <a:lnR w="9525">
                      <a:solidFill>
                        <a:srgbClr val="DCE4EE"/>
                      </a:solidFill>
                      <a:prstDash val="solid"/>
                    </a:lnR>
                    <a:lnB w="9525">
                      <a:solidFill>
                        <a:srgbClr val="DCE4EE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 lIns="95250" tIns="57150" rIns="95250" bIns="57150"/>
                    <a:lstStyle/>
                    <a:p>
                      <a:pPr algn="l"/>
                      <a:r>
                        <a:rPr sz="1163" b="0">
                          <a:solidFill>
                            <a:srgbClr val="3D4A5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时间与初始指标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E"/>
                      </a:solidFill>
                      <a:prstDash val="solid"/>
                    </a:lnR>
                    <a:lnB w="9525">
                      <a:solidFill>
                        <a:srgbClr val="DCE4EE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 lIns="95250" tIns="57150" rIns="95250" bIns="57150"/>
                    <a:lstStyle/>
                    <a:p>
                      <a:pPr algn="l"/>
                      <a:r>
                        <a:rPr sz="1163" b="0">
                          <a:solidFill>
                            <a:srgbClr val="3D4A5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CA1、CA2、答辩日期如何安排？5fps 检测等初始目标是否可作为早期验证口径？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E"/>
                      </a:solidFill>
                      <a:prstDash val="solid"/>
                    </a:lnR>
                    <a:lnB w="9525">
                      <a:solidFill>
                        <a:srgbClr val="DCE4EE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7" name="decision-close">
            <a:extLst xmlns:a="http://schemas.openxmlformats.org/drawingml/2006/main">
              <a:ext uri="{FF2B5EF4-FFF2-40B4-BE49-F238E27FC236}">
                <a16:creationId xmlns:a16="http://schemas.microsoft.com/office/drawing/2014/main" id="{A227DEFC-E8EE-4C78-A01D-2681670E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67400"/>
            <a:ext cx="10744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CBD9F5"/>
            </a:solidFill>
            <a:prstDash val="solid"/>
          </a:ln>
        </p:spPr>
      </p:sp>
      <p:sp>
        <p:nvSpPr>
          <p:cNvPr id="8" name="decision-close-accent">
            <a:extLst xmlns:a="http://schemas.openxmlformats.org/drawingml/2006/main">
              <a:ext uri="{FF2B5EF4-FFF2-40B4-BE49-F238E27FC236}">
                <a16:creationId xmlns:a16="http://schemas.microsoft.com/office/drawing/2014/main" id="{A6AE95A9-7EE2-439A-B4D4-AB05C42B5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67400"/>
            <a:ext cx="47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decision-close-text">
            <a:extLst xmlns:a="http://schemas.openxmlformats.org/drawingml/2006/main">
              <a:ext uri="{FF2B5EF4-FFF2-40B4-BE49-F238E27FC236}">
                <a16:creationId xmlns:a16="http://schemas.microsoft.com/office/drawing/2014/main" id="{94CB2376-7993-4D24-81E2-C1330C2C3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981700"/>
            <a:ext cx="1021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5398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15398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15398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15398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15398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15398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15398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15398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15398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15398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539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5398F"/>
                </a:solidFill>
                <a:latin typeface="Microsoft YaHei"/>
                <a:ea typeface="Microsoft YaHei"/>
                <a:cs typeface="Microsoft YaHei"/>
              </a:rPr>
              <a:t>建议结论：常规轮式先完成核心；UNO Q 单板先行，保留树莓派迁移路径；轮腿与跳跃分别决策。</a:t>
            </a:r>
          </a:p>
        </p:txBody>
      </p:sp>
    </p:spTree>
    <p:extLst>
      <p:ext uri="{BB962C8B-B14F-4D97-AF65-F5344CB8AC3E}">
        <p14:creationId xmlns:p14="http://schemas.microsoft.com/office/powerpoint/2010/main" val="6364001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2026-10-19T06:52:39.3170000Z</dcterms:created>
  <dcterms:modified xsi:type="dcterms:W3CDTF">2026-10-19T06:52:39.3170000Z</dcterms:modified>
</coreProperties>
</file>